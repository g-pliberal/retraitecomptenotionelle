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dire avant d'ouvrir quoi que ce soit, en une phrase : un compte à votre nom, en euros. Chaque cotisation y est inscrite, le compte est revalorisé chaque année au rythme des salaires du pays, et au départ la pension est le solde divisé par le nombre d'années qu'il vous reste à vivre en moyenne. Pas de trimestres, pas de barèmes, pas de surprise.
Ce diaporama reprend le site tel qu'il était le 20 septembre 2026 au matin. Si le réseau est là, le site lui-même est à l'adresse en bas de chaque diapositive ; sinon, tout est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tient en trois gestes, et c'est tout ce qu'il faut retenir. Un compte notionnel est un compte virtuel : rien n'est placé, les cotisations de l'année paient les pensions de l'année. Ce qui change, c'est le calcul du droit : chaque euro cotisé compte, et rien d'autre — ni trimestres, ni minimum, ni majoration.
Si on demande « c'est de la capitalisation ? » : non. C'est toujours la répartition. Seuls les 5 % du pilier capitalisé, en plus, constituent un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chiffres de l'accueil du site. 1 050 € : le plancher pour une personne seule, dès 65 ans, payé par l'impôt — 800 € par personne plus 250 € d'allocation d'isolement, 1 600 € pour un couple. 18 % + 5 % : 18 % au compte de retraite, part salariale et patronale additionnées, contre 28 % aujourd'hui pour un salarié du privé (11,3 % + 16,7 %), le même taux pour tout le monde ; et 5 % placés sur des titres sans risque, qui vous appartiennent et se transmettent. Restent 5 % rendus : le simulateur montre ce qu'ils donnent si on les place au même endroit, à effort inchangé. 1 compte : on voit son solde comme sur un relevé bancaire. 100 % : partir plus tôt donne moins, plus tard donne plus, dans le rapport exact de ce que ça coûte.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L'exemple le plus parlant de la page Programme. Aujourd'hui, l'ASPA regarde les ressources du couple : à 300 € et 1 500 € de pension, il ne reçoit rien. La garantie regarde chacun : elle sert 500 € au premier, pour l'amener à 800 €. Une personne seule à 300 € reçoit 750 € dans les deux cas — 800 + 250 d'isolement = 1 050, moins ses 300.
Si on demande « c'est récupérable sur la succession ? » : oui, dès le premier euro, avec intérêt, mais jamais au-delà de ce que la succession contient — les héritiers ne paient pas sur leurs biens propres. C'est écrit dans le dépliant du plancher, sur la page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terme à terme de la page Programme. Deux lignes à lire à voix haute : « Changer de métier : changer de régime, et de règle de calcul → rien, le compte est le même », et « Tenir l'équilibre : une réforme tous les huit ans en moyenne → un chiffre publié chaque année ». La dernière ligne compte aussi : si vous mourez avant la retraite, le capital de la part capitalisée revient à vos héritiers.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tel qu'il s'ouvre. Neuf onglets, groupés en quatre : le programme (Programme), la preuve (Simuler, Trajectoire, Cas types, Coût, Avantages), la confiance (Méthode, Données), faire connaître (Partager). Tout se calcule dans le navigateur : rien n'est envoyé, rien n'est conservé — on peut taper une vraie carrière sans gêne. Le site n'a aucune valeur officielle, et il le dit en bas de chaque page : seule la caisse fait foi.
Si le réseau est là, c'est le moment d'ouvrir le site en vrai. Sinon, les diapositives suivantes en montrent les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Simuler, avec l'exemple pré-rempli : né en janvier 1975, premier emploi en janvier 1996 comme salarié du privé non cadre, 3 500 € net par mois, départ en janvier 2039 à 64 ans. On clique « Calculer les quatre systèmes » et ces quatre lignes apparaissent. Chaque ligne a deux chiffres : à gauche le salaire net pendant qu'on cotise, à droite la pension nette, par mois, en euros d'aujourd'hui.
La diapositive suivante dit comment les lire. C'est la chose la plus importante de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système 1 est la référence : le droit en vigueur, minima et majorations compris, recalculé règle par règle sur cette carrière.
Les systèmes 2 et 3 NE SONT PAS des propositions. Ce sont des contrefactuels : la même carrière recalculée depuis 1941 comme si le compte avait toujours existé, avec la seule part salariale (2), puis les deux parts (3). L'écart entre 2 et 3 mesure exactement une chose : ce que verse l'employeur. Ne pas s'attarder sur le 2.
Le système 4 est la proposition, et il se lit contre le 3 : même compte jusqu'à 2026, puis 18 % pour tous, 5 % capitalisés par-dessus, 5 % rendus que l'exemple suppose replacés, et une garantie vieillesse payée par l'impôt. Sa pension est détaillée en trois parts : répartition, rente capitalisée obligatoire, rente des cinq points volontaires.
Pourquoi la proposition sert moins que le système actuel ici : parce que le système actuel sert à ce salarié plus que ce qu'il a cotisé (page Avantages), et parce que ces pensions sont calculées avant le réglage annuel qui rééquilibre le système (page Cas types). La question viendra ; elle est traitée à la diapositive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argument que personne n'attend d'un simulateur de retraite : une réforme change aussi la fiche de paie. Les systèmes 1, 2 et 3 prélèvent la même chose ; le système 4, lui, y touche. Sur l'exemple, le salaire net baisse de 117 € par mois si on verse les 5 % de capitalisation volontaire que la proposition rend (on cotise alors 28 % en tout, comme aujourd'hui, mais 251,65 € par mois vont sur un compte à son nom). Si on ne les verse pas, le salaire net monte de 134 € par mois, et la rente du système 4 baisse d'autant. Le coût du travail est inchangé pour l'employeur.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carrières calculées sur le site le 20 septembre au matin. Toutes nées en janvier 1975 et parties à 64 ans en janvier 2039, sauf la troisième. Montants nets, par mois, en euros de 2026.
Le SMIC : la proposition sert 995 €, mais le plancher — 1 050 € pour une personne seule dès 65 ans — passe au-dessus. Il n'est pas dans la ligne parce que cette carrière part à 64 ans.
Le fonctionnaire : c'est le cas qui surprend. L'État employeur cotise pour ses fonctionnaires bien au-delà d'un employeur privé (jusqu'à 82 % du traitement en 2026). Porté au compte, ce que l'État a réellement versé donne une pension supérieure à celle que le régime sert. Le compte rend ce qui a été cotisé, dans les deux sens.
La salariée née en 2000 cotise presque entièrement après la bascule : la rente capitalisée y pèse le plus, et l'écart entre 3 et 4 est le plus large. Sa colonne de référence est un système que le COR projette en déficit de 16 % de la facture en 2070.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Cas types : treize carrières en lignes, sept générations en colonnes, de 1940 à 2000. Chaque case dit ce que la pension deviendrait, par rapport à aujourd'hui, pour la même carrière. Rouge : moins. Vert : plus.
À montrer : la ligne « Fonctionnaire sédentaire (catégorie B) », qui va de -57 % pour la génération 1940 à +36 % pour la génération 1970 — la même règle donne des résultats opposés selon ce que l'État a réellement cotisé à chaque époque. Le chef d'exploitation agricole, +7 % pour la génération 2000, est la carrière la mieux traitée ; le militaire non officier, -44 %, la moins bien traitée ; 51 points les séparent à carrière et à durée identiques.
La question qui vient à coup sûr — « tout est rouge, donc les pensions baissent ? » — est traitée à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y répond dans son deuxième paragraphe, à lire tel quel : ces pourcentages ne sont pas des baisses de pension. Chaque case compare deux carrières calculées sous la même règle, et la grille mesure l'écart entre ses lignes : ce qu'un militaire touche de plus ou de moins qu'un artisan, à cotisation égale. Le niveau général dépend d'un réglage annuel, le coefficient d'équilibre, que le modèle calcule mais n'applique jamais : pour la proposition il est supérieur à un chaque année, c'est-à-dire qu'à prélèvement égal le système aurait de quoi relever toutes les cases d'autant. La page Coût le chiffre.
Et « aujourd'hui » n'est pas un point fixe : le système actuel, colonne de référence, manque déjà de 0,17 % du PIB en 2025, et le COR projette qu'il en manquera 2,39 % en 2070. Le choix réel se joue entre le notionnel et un système qui dérive.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Coût. Trois chiffres à lire dans l'ordre : 422 milliards versés aux retraités en 2025, à 17,3 millions de personnes ; 417 milliards encaissés pour le payer, cotisations et impôts ; 5,1 milliards manquants, soit 1,2 % de la facture. Sans rien changer, il manquerait 16 % de la facture en 2070.
Le graphique : ce qui sort et ce qui rentre depuis 1959, en part du PIB, et à partir de 2026 ce que la proposition coûterait (jaune pointillé) et encaisserait (jaune plein). Sources : DREES jusqu'en 2001, Conseil d'orientation des retraites ensuite — c'est lui qui projette, pas nous.
Dépenser moins n'est pas économiser : un système en comptes notionnels ne laisse pas d'argent dormir, il remonte les pensions jusqu'à l'équilibre. La courbe en pointillés ne dit pas « on dépenserait moins » ; elle dit : avec le même argent, on servirait autant, réparti autrement, et réglé chaque année au lieu d'attendre une réforme.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 paie ? Les salaires, pour 77 % : c'est ce qui est prélevé sur chaque fiche de paie. Le reste vient surtout de l'impôt, et cette part a doublé en vingt ans : 7 % en 2004, 15 % en 2025. Source : Conseil d'orientation des retraites ; ce détail n'est publié que de 2004 à 2025.
Sur le site, chaque graphique se lit au survol et a un bouton « Partager » qui le télécharge en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qui explique les écarts du simulateur : ce que le système actuel verse sans que personne l'ait cotisé. 43 dispositifs recensés, du minimum vieillesse à la bonification du cinquième, contre un seul en 1831 ; 96,2 milliards en 2024 pour les 18 que le modèle sait chiffrer, dont 38,3 milliards de réversion ; 12,8 milliards de pensions servies avant l'âge légal, que nulle décote ne rattrape. La page dit que ces deux montants sont des planchers, et de combien.
Un compte notionnel ne sert que ce qui a été versé. C'est ce qui sépare le système 1 des autres, et ça porte des noms : minimum contributif, trimestres gratuits, départ anticipé, réversion.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bonne page pour conclure : « Rien ici n'est à croire sur parole. » Chaque série est recontrôlée, automatiquement, contre le fichier de l'institution qui la produit : l'INSEE pour les prix et les salaires, le Conseil d'orientation des retraites pour les comptes, les caisses pour leurs barèmes. 41 271 valeurs recontrôlées sur 96 séries ; 89 régimes recensés, dont 72 calculés ; 28 institutions citées. Ce qui n'a pas pu être vérifié ainsi est marqué comme tel. Le code et les données sont publics sur GitHub, sous licence libre.
Les séries macroéconomiques sont certifiées de 1950 à 2025, les tables de mortalité sont celles réellement observées. Ce qui précède 1950 et les paramètres propres à chaque régime restent saisis à la main : les niveaux de pension des carrières les plus anciennes gardent une marge ; les écarts entre scénarios, qui sont l'objet du modèle, sont plus robustes.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questions qui reviennent, avec la page qui y répond en détail. Le plancher et sa reprise sur succession : Programme, dépliant « Le plancher ». Le coût de la garantie : Coût, dépliant « Ce que coûte la garantie vieillesse ». Le pilier capitalisé : Programme, dépliant « La part capitalisée », et Méthode. La liste des 43 avantages avec leur base légale : Avantages. Les sources, série par série :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finir : vérifiez plutôt que de nous croire. Tout est chiffré, sur des données publiques et un modèle ouvert. La simulation se fait dans le navigateur, sur une simple adresse, et chaque résultat se partage par son adresse.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300" b="1" spc="300" kern="0" dirty="0">
                <a:solidFill>
                  <a:srgbClr val="E9C53D"/>
                </a:solidFill>
                <a:latin typeface="Arial" pitchFamily="34" charset="0"/>
                <a:ea typeface="Arial" pitchFamily="34" charset="-122"/>
                <a:cs typeface="Arial" pitchFamily="34" charset="-120"/>
              </a:rPr>
              <a:t>PARTI LIBÉRAL FRANÇAIS  ·  NOTRE PROGRAMME POUR LES RETRAITES</a:t>
            </a:r>
            <a:endParaRPr lang="en-US" sz="1300" dirty="0"/>
          </a:p>
        </p:txBody>
      </p:sp>
      <p:sp>
        <p:nvSpPr>
          <p:cNvPr id="4" name="Text 1"/>
          <p:cNvSpPr txBox="1"/>
          <p:nvPr/>
        </p:nvSpPr>
        <p:spPr>
          <a:xfrm>
            <a:off x="548640" y="1554480"/>
            <a:ext cx="11094415" cy="2926080"/>
          </a:xfrm>
          <a:prstGeom prst="rect">
            <a:avLst/>
          </a:prstGeom>
          <a:noFill/>
          <a:ln/>
        </p:spPr>
        <p:txBody>
          <a:bodyPr wrap="square" lIns="0" tIns="0" rIns="0" bIns="0" rtlCol="0" anchor="t"/>
          <a:lstStyle/>
          <a:p>
            <a:pPr indent="0" marL="0">
              <a:lnSpc>
                <a:spcPct val="95000"/>
              </a:lnSpc>
              <a:buNone/>
            </a:pPr>
            <a:r>
              <a:rPr lang="en-US" sz="5400" b="1" dirty="0">
                <a:solidFill>
                  <a:srgbClr val="F4EFE4"/>
                </a:solidFill>
                <a:latin typeface="Arial" pitchFamily="34" charset="0"/>
                <a:ea typeface="Arial" pitchFamily="34" charset="-122"/>
                <a:cs typeface="Arial" pitchFamily="34" charset="-120"/>
              </a:rPr>
              <a:t>LA SEULE RETRAITE QUI VOUS REND </a:t>
            </a:r>
            <a:pPr indent="0" marL="0">
              <a:lnSpc>
                <a:spcPct val="95000"/>
              </a:lnSpc>
              <a:buNone/>
            </a:pPr>
            <a:r>
              <a:rPr lang="en-US" sz="5400" b="1" dirty="0">
                <a:solidFill>
                  <a:srgbClr val="E9C53D"/>
                </a:solidFill>
                <a:latin typeface="Arial" pitchFamily="34" charset="0"/>
                <a:ea typeface="Arial" pitchFamily="34" charset="-122"/>
                <a:cs typeface="Arial" pitchFamily="34" charset="-120"/>
              </a:rPr>
              <a:t>VRAIMENT</a:t>
            </a:r>
            <a:pPr indent="0" marL="0">
              <a:lnSpc>
                <a:spcPct val="95000"/>
              </a:lnSpc>
              <a:buNone/>
            </a:pPr>
            <a:r>
              <a:rPr lang="en-US" sz="5400" b="1" dirty="0">
                <a:solidFill>
                  <a:srgbClr val="F4EFE4"/>
                </a:solidFill>
                <a:latin typeface="Arial" pitchFamily="34" charset="0"/>
                <a:ea typeface="Arial" pitchFamily="34" charset="-122"/>
                <a:cs typeface="Arial" pitchFamily="34" charset="-120"/>
              </a:rPr>
              <a:t> CE QUE VOUS AVEZ COTISÉ.</a:t>
            </a:r>
            <a:endParaRPr lang="en-US" sz="5400" dirty="0"/>
          </a:p>
        </p:txBody>
      </p:sp>
      <p:sp>
        <p:nvSpPr>
          <p:cNvPr id="5" name="Text 2"/>
          <p:cNvSpPr txBox="1"/>
          <p:nvPr/>
        </p:nvSpPr>
        <p:spPr>
          <a:xfrm>
            <a:off x="548640" y="4754880"/>
            <a:ext cx="9601200" cy="1097280"/>
          </a:xfrm>
          <a:prstGeom prst="rect">
            <a:avLst/>
          </a:prstGeom>
          <a:noFill/>
          <a:ln/>
        </p:spPr>
        <p:txBody>
          <a:bodyPr wrap="square" lIns="0" tIns="0" rIns="0" bIns="0" rtlCol="0" anchor="t"/>
          <a:lstStyle/>
          <a:p>
            <a:pPr indent="0" marL="0">
              <a:buNone/>
            </a:pPr>
            <a:r>
              <a:rPr lang="en-US" sz="2200" b="1" dirty="0">
                <a:solidFill>
                  <a:srgbClr val="F4EFE4"/>
                </a:solidFill>
                <a:latin typeface="Cambria" pitchFamily="34" charset="0"/>
                <a:ea typeface="Cambria" pitchFamily="34" charset="-122"/>
                <a:cs typeface="Cambria" pitchFamily="34" charset="-120"/>
              </a:rPr>
              <a:t>Un compte à votre nom, en euros. </a:t>
            </a:r>
            <a:pPr indent="0" marL="0">
              <a:buNone/>
            </a:pPr>
            <a:r>
              <a:rPr lang="en-US" sz="2200" dirty="0">
                <a:solidFill>
                  <a:srgbClr val="C3D8D4"/>
                </a:solidFill>
                <a:latin typeface="Cambria" pitchFamily="34" charset="0"/>
                <a:ea typeface="Cambria" pitchFamily="34" charset="-122"/>
                <a:cs typeface="Cambria" pitchFamily="34" charset="-120"/>
              </a:rPr>
              <a:t>Chaque cotisation y est inscrite ; à la retraite, il devient votre pension. </a:t>
            </a:r>
            <a:pPr indent="0" marL="0">
              <a:buNone/>
            </a:pPr>
            <a:r>
              <a:rPr lang="en-US" sz="2200" b="1" dirty="0">
                <a:solidFill>
                  <a:srgbClr val="E9C53D"/>
                </a:solidFill>
                <a:latin typeface="Cambria" pitchFamily="34" charset="0"/>
                <a:ea typeface="Cambria" pitchFamily="34" charset="-122"/>
                <a:cs typeface="Cambria" pitchFamily="34" charset="-120"/>
              </a:rPr>
              <a:t>Pas de trimestres, pas de barèmes, pas de surprise.</a:t>
            </a:r>
            <a:endParaRPr lang="en-US" sz="22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 CALCUL</a:t>
            </a:r>
            <a:endParaRPr lang="en-US" sz="1200" dirty="0"/>
          </a:p>
        </p:txBody>
      </p:sp>
      <p:sp>
        <p:nvSpPr>
          <p:cNvPr id="4" name="Text 1"/>
          <p:cNvSpPr txBox="1"/>
          <p:nvPr/>
        </p:nvSpPr>
        <p:spPr>
          <a:xfrm>
            <a:off x="548640" y="868680"/>
            <a:ext cx="11094415" cy="822960"/>
          </a:xfrm>
          <a:prstGeom prst="rect">
            <a:avLst/>
          </a:prstGeom>
          <a:noFill/>
          <a:ln/>
        </p:spPr>
        <p:txBody>
          <a:bodyPr wrap="square" lIns="0" tIns="0" rIns="0" bIns="0" rtlCol="0" anchor="t"/>
          <a:lstStyle/>
          <a:p>
            <a:pPr indent="0" marL="0">
              <a:buNone/>
            </a:pPr>
            <a:r>
              <a:rPr lang="en-US" sz="3400" b="1" dirty="0">
                <a:solidFill>
                  <a:srgbClr val="F4EFE4"/>
                </a:solidFill>
                <a:latin typeface="Arial" pitchFamily="34" charset="0"/>
                <a:ea typeface="Arial" pitchFamily="34" charset="-122"/>
                <a:cs typeface="Arial" pitchFamily="34" charset="-120"/>
              </a:rPr>
              <a:t>COMMENT ÇA MARCHE, EN TROIS GESTES</a:t>
            </a:r>
            <a:endParaRPr lang="en-US" sz="3400" dirty="0"/>
          </a:p>
        </p:txBody>
      </p:sp>
      <p:sp>
        <p:nvSpPr>
          <p:cNvPr id="5" name="Text 2"/>
          <p:cNvSpPr txBox="1"/>
          <p:nvPr/>
        </p:nvSpPr>
        <p:spPr>
          <a:xfrm>
            <a:off x="548640" y="1920240"/>
            <a:ext cx="822960" cy="914400"/>
          </a:xfrm>
          <a:prstGeom prst="rect">
            <a:avLst/>
          </a:prstGeom>
          <a:noFill/>
          <a:ln/>
        </p:spPr>
        <p:txBody>
          <a:bodyPr wrap="square" lIns="0" tIns="0" rIns="0" bIns="0" rtlCol="0" anchor="t"/>
          <a:lstStyle/>
          <a:p>
            <a:pPr indent="0" marL="0">
              <a:buNone/>
            </a:pPr>
            <a:r>
              <a:rPr lang="en-US" sz="4800" b="1" dirty="0">
                <a:solidFill>
                  <a:srgbClr val="E9C53D"/>
                </a:solidFill>
                <a:latin typeface="Arial" pitchFamily="34" charset="0"/>
                <a:ea typeface="Arial" pitchFamily="34" charset="-122"/>
                <a:cs typeface="Arial" pitchFamily="34" charset="-120"/>
              </a:rPr>
              <a:t>1</a:t>
            </a:r>
            <a:endParaRPr lang="en-US" sz="4800" dirty="0"/>
          </a:p>
        </p:txBody>
      </p:sp>
      <p:sp>
        <p:nvSpPr>
          <p:cNvPr id="6" name="Text 3"/>
          <p:cNvSpPr txBox="1"/>
          <p:nvPr/>
        </p:nvSpPr>
        <p:spPr>
          <a:xfrm>
            <a:off x="1463040" y="1965960"/>
            <a:ext cx="6675120" cy="960120"/>
          </a:xfrm>
          <a:prstGeom prst="rect">
            <a:avLst/>
          </a:prstGeom>
          <a:noFill/>
          <a:ln/>
        </p:spPr>
        <p:txBody>
          <a:bodyPr wrap="square" lIns="0" tIns="0" rIns="0" bIns="0" rtlCol="0" anchor="t"/>
          <a:lstStyle/>
          <a:p>
            <a:pPr indent="0" marL="0">
              <a:buNone/>
            </a:pPr>
            <a:r>
              <a:rPr lang="en-US" sz="2200" b="1" dirty="0">
                <a:solidFill>
                  <a:srgbClr val="F4EFE4"/>
                </a:solidFill>
                <a:latin typeface="Calibri" pitchFamily="34" charset="0"/>
                <a:ea typeface="Calibri" pitchFamily="34" charset="-122"/>
                <a:cs typeface="Calibri" pitchFamily="34" charset="-120"/>
              </a:rPr>
              <a:t>On inscrit</a:t>
            </a:r>
            <a:pPr indent="0" marL="0">
              <a:buNone/>
            </a:pPr>
            <a:r>
              <a:rPr lang="en-US" sz="2200" dirty="0">
                <a:solidFill>
                  <a:srgbClr val="C3D8D4"/>
                </a:solidFill>
                <a:latin typeface="Calibri" pitchFamily="34" charset="0"/>
                <a:ea typeface="Calibri" pitchFamily="34" charset="-122"/>
                <a:cs typeface="Calibri" pitchFamily="34" charset="-120"/>
              </a:rPr>
              <a:t> chaque cotisation sur votre compte, au premier euro, sans plafond.</a:t>
            </a:r>
            <a:endParaRPr lang="en-US" sz="2200" dirty="0"/>
          </a:p>
        </p:txBody>
      </p:sp>
      <p:sp>
        <p:nvSpPr>
          <p:cNvPr id="7" name="Text 4"/>
          <p:cNvSpPr txBox="1"/>
          <p:nvPr/>
        </p:nvSpPr>
        <p:spPr>
          <a:xfrm>
            <a:off x="548640" y="3063240"/>
            <a:ext cx="822960" cy="914400"/>
          </a:xfrm>
          <a:prstGeom prst="rect">
            <a:avLst/>
          </a:prstGeom>
          <a:noFill/>
          <a:ln/>
        </p:spPr>
        <p:txBody>
          <a:bodyPr wrap="square" lIns="0" tIns="0" rIns="0" bIns="0" rtlCol="0" anchor="t"/>
          <a:lstStyle/>
          <a:p>
            <a:pPr indent="0" marL="0">
              <a:buNone/>
            </a:pPr>
            <a:r>
              <a:rPr lang="en-US" sz="4800" b="1" dirty="0">
                <a:solidFill>
                  <a:srgbClr val="E9C53D"/>
                </a:solidFill>
                <a:latin typeface="Arial" pitchFamily="34" charset="0"/>
                <a:ea typeface="Arial" pitchFamily="34" charset="-122"/>
                <a:cs typeface="Arial" pitchFamily="34" charset="-120"/>
              </a:rPr>
              <a:t>2</a:t>
            </a:r>
            <a:endParaRPr lang="en-US" sz="4800" dirty="0"/>
          </a:p>
        </p:txBody>
      </p:sp>
      <p:sp>
        <p:nvSpPr>
          <p:cNvPr id="8" name="Text 5"/>
          <p:cNvSpPr txBox="1"/>
          <p:nvPr/>
        </p:nvSpPr>
        <p:spPr>
          <a:xfrm>
            <a:off x="1463040" y="3108960"/>
            <a:ext cx="6675120" cy="960120"/>
          </a:xfrm>
          <a:prstGeom prst="rect">
            <a:avLst/>
          </a:prstGeom>
          <a:noFill/>
          <a:ln/>
        </p:spPr>
        <p:txBody>
          <a:bodyPr wrap="square" lIns="0" tIns="0" rIns="0" bIns="0" rtlCol="0" anchor="t"/>
          <a:lstStyle/>
          <a:p>
            <a:pPr indent="0" marL="0">
              <a:buNone/>
            </a:pPr>
            <a:r>
              <a:rPr lang="en-US" sz="2200" b="1" dirty="0">
                <a:solidFill>
                  <a:srgbClr val="F4EFE4"/>
                </a:solidFill>
                <a:latin typeface="Calibri" pitchFamily="34" charset="0"/>
                <a:ea typeface="Calibri" pitchFamily="34" charset="-122"/>
                <a:cs typeface="Calibri" pitchFamily="34" charset="-120"/>
              </a:rPr>
              <a:t>On revalorise</a:t>
            </a:r>
            <a:pPr indent="0" marL="0">
              <a:buNone/>
            </a:pPr>
            <a:r>
              <a:rPr lang="en-US" sz="2200" dirty="0">
                <a:solidFill>
                  <a:srgbClr val="C3D8D4"/>
                </a:solidFill>
                <a:latin typeface="Calibri" pitchFamily="34" charset="0"/>
                <a:ea typeface="Calibri" pitchFamily="34" charset="-122"/>
                <a:cs typeface="Calibri" pitchFamily="34" charset="-120"/>
              </a:rPr>
              <a:t> le compte chaque année, au rythme des salaires du pays.</a:t>
            </a:r>
            <a:endParaRPr lang="en-US" sz="2200" dirty="0"/>
          </a:p>
        </p:txBody>
      </p:sp>
      <p:sp>
        <p:nvSpPr>
          <p:cNvPr id="9" name="Text 6"/>
          <p:cNvSpPr txBox="1"/>
          <p:nvPr/>
        </p:nvSpPr>
        <p:spPr>
          <a:xfrm>
            <a:off x="548640" y="4206240"/>
            <a:ext cx="822960" cy="914400"/>
          </a:xfrm>
          <a:prstGeom prst="rect">
            <a:avLst/>
          </a:prstGeom>
          <a:noFill/>
          <a:ln/>
        </p:spPr>
        <p:txBody>
          <a:bodyPr wrap="square" lIns="0" tIns="0" rIns="0" bIns="0" rtlCol="0" anchor="t"/>
          <a:lstStyle/>
          <a:p>
            <a:pPr indent="0" marL="0">
              <a:buNone/>
            </a:pPr>
            <a:r>
              <a:rPr lang="en-US" sz="4800" b="1" dirty="0">
                <a:solidFill>
                  <a:srgbClr val="E9C53D"/>
                </a:solidFill>
                <a:latin typeface="Arial" pitchFamily="34" charset="0"/>
                <a:ea typeface="Arial" pitchFamily="34" charset="-122"/>
                <a:cs typeface="Arial" pitchFamily="34" charset="-120"/>
              </a:rPr>
              <a:t>3</a:t>
            </a:r>
            <a:endParaRPr lang="en-US" sz="4800" dirty="0"/>
          </a:p>
        </p:txBody>
      </p:sp>
      <p:sp>
        <p:nvSpPr>
          <p:cNvPr id="10" name="Text 7"/>
          <p:cNvSpPr txBox="1"/>
          <p:nvPr/>
        </p:nvSpPr>
        <p:spPr>
          <a:xfrm>
            <a:off x="1463040" y="4251960"/>
            <a:ext cx="6675120" cy="960120"/>
          </a:xfrm>
          <a:prstGeom prst="rect">
            <a:avLst/>
          </a:prstGeom>
          <a:noFill/>
          <a:ln/>
        </p:spPr>
        <p:txBody>
          <a:bodyPr wrap="square" lIns="0" tIns="0" rIns="0" bIns="0" rtlCol="0" anchor="t"/>
          <a:lstStyle/>
          <a:p>
            <a:pPr indent="0" marL="0">
              <a:buNone/>
            </a:pPr>
            <a:r>
              <a:rPr lang="en-US" sz="2200" b="1" dirty="0">
                <a:solidFill>
                  <a:srgbClr val="F4EFE4"/>
                </a:solidFill>
                <a:latin typeface="Calibri" pitchFamily="34" charset="0"/>
                <a:ea typeface="Calibri" pitchFamily="34" charset="-122"/>
                <a:cs typeface="Calibri" pitchFamily="34" charset="-120"/>
              </a:rPr>
              <a:t>On divise</a:t>
            </a:r>
            <a:pPr indent="0" marL="0">
              <a:buNone/>
            </a:pPr>
            <a:r>
              <a:rPr lang="en-US" sz="2200" dirty="0">
                <a:solidFill>
                  <a:srgbClr val="C3D8D4"/>
                </a:solidFill>
                <a:latin typeface="Calibri" pitchFamily="34" charset="0"/>
                <a:ea typeface="Calibri" pitchFamily="34" charset="-122"/>
                <a:cs typeface="Calibri" pitchFamily="34" charset="-120"/>
              </a:rPr>
              <a:t>, au départ, par les années qu'il vous reste à vivre en moyenne. C'est votre pension.</a:t>
            </a:r>
            <a:endParaRPr lang="en-US" sz="2200" dirty="0"/>
          </a:p>
        </p:txBody>
      </p:sp>
      <p:sp>
        <p:nvSpPr>
          <p:cNvPr id="11" name="Text 8"/>
          <p:cNvSpPr txBox="1"/>
          <p:nvPr/>
        </p:nvSpPr>
        <p:spPr>
          <a:xfrm>
            <a:off x="548640" y="5394960"/>
            <a:ext cx="7315200" cy="731520"/>
          </a:xfrm>
          <a:prstGeom prst="rect">
            <a:avLst/>
          </a:prstGeom>
          <a:noFill/>
          <a:ln/>
        </p:spPr>
        <p:txBody>
          <a:bodyPr wrap="square" lIns="0" tIns="0" rIns="0" bIns="0" rtlCol="0" anchor="ctr"/>
          <a:lstStyle/>
          <a:p>
            <a:pPr indent="0" marL="0">
              <a:buNone/>
            </a:pPr>
            <a:r>
              <a:rPr lang="en-US" sz="1600" i="1" dirty="0">
                <a:solidFill>
                  <a:srgbClr val="A7C3BF"/>
                </a:solidFill>
                <a:latin typeface="Cambria" pitchFamily="34" charset="0"/>
                <a:ea typeface="Cambria" pitchFamily="34" charset="-122"/>
                <a:cs typeface="Cambria" pitchFamily="34" charset="-120"/>
              </a:rPr>
              <a:t>Rien n'est placé : les cotisations de l'année paient les pensions de l'année. C'est toujours la répartition.</a:t>
            </a:r>
            <a:endParaRPr lang="en-US" sz="1600" dirty="0"/>
          </a:p>
        </p:txBody>
      </p:sp>
      <p:sp>
        <p:nvSpPr>
          <p:cNvPr id="12" name="Shape 9"/>
          <p:cNvSpPr/>
          <p:nvPr/>
        </p:nvSpPr>
        <p:spPr>
          <a:xfrm>
            <a:off x="8503920" y="1920240"/>
            <a:ext cx="3136392" cy="3291840"/>
          </a:xfrm>
          <a:prstGeom prst="rect">
            <a:avLst/>
          </a:prstGeom>
          <a:solidFill>
            <a:srgbClr val="0F4A46"/>
          </a:solidFill>
          <a:ln w="9525">
            <a:solidFill>
              <a:srgbClr val="2F6360"/>
            </a:solidFill>
            <a:prstDash val="solid"/>
          </a:ln>
        </p:spPr>
      </p:sp>
      <p:sp>
        <p:nvSpPr>
          <p:cNvPr id="13" name="Text 10"/>
          <p:cNvSpPr txBox="1"/>
          <p:nvPr/>
        </p:nvSpPr>
        <p:spPr>
          <a:xfrm>
            <a:off x="8732520" y="2148840"/>
            <a:ext cx="2743200" cy="320040"/>
          </a:xfrm>
          <a:prstGeom prst="rect">
            <a:avLst/>
          </a:prstGeom>
          <a:noFill/>
          <a:ln/>
        </p:spPr>
        <p:txBody>
          <a:bodyPr wrap="square" lIns="0" tIns="0" rIns="0" bIns="0" rtlCol="0" anchor="ctr"/>
          <a:lstStyle/>
          <a:p>
            <a:pPr indent="0" marL="0">
              <a:buNone/>
            </a:pPr>
            <a:r>
              <a:rPr lang="en-US" sz="1100" b="1" spc="200" kern="0" dirty="0">
                <a:solidFill>
                  <a:srgbClr val="E9C53D"/>
                </a:solidFill>
                <a:latin typeface="Arial" pitchFamily="34" charset="0"/>
                <a:ea typeface="Arial" pitchFamily="34" charset="-122"/>
                <a:cs typeface="Arial" pitchFamily="34" charset="-120"/>
              </a:rPr>
              <a:t>C'EST DÉJÀ LE SYSTÈME DE</a:t>
            </a:r>
            <a:endParaRPr lang="en-US" sz="1100" dirty="0"/>
          </a:p>
        </p:txBody>
      </p:sp>
      <p:sp>
        <p:nvSpPr>
          <p:cNvPr id="14" name="Text 11"/>
          <p:cNvSpPr txBox="1"/>
          <p:nvPr/>
        </p:nvSpPr>
        <p:spPr>
          <a:xfrm>
            <a:off x="8732520" y="2560320"/>
            <a:ext cx="2743200" cy="2468880"/>
          </a:xfrm>
          <a:prstGeom prst="rect">
            <a:avLst/>
          </a:prstGeom>
          <a:noFill/>
          <a:ln/>
        </p:spPr>
        <p:txBody>
          <a:bodyPr wrap="square" lIns="0" tIns="0" rIns="0" bIns="0" rtlCol="0" anchor="t"/>
          <a:lstStyle/>
          <a:p>
            <a:pPr indent="0" marL="0">
              <a:spcAft>
                <a:spcPts val="800"/>
              </a:spcAft>
              <a:buNone/>
            </a:pPr>
            <a:r>
              <a:rPr lang="en-US" sz="2400" b="1" dirty="0">
                <a:solidFill>
                  <a:srgbClr val="F4EFE4"/>
                </a:solidFill>
                <a:latin typeface="Arial" pitchFamily="34" charset="0"/>
                <a:ea typeface="Arial" pitchFamily="34" charset="-122"/>
                <a:cs typeface="Arial" pitchFamily="34" charset="-120"/>
              </a:rPr>
              <a:t>la Suède</a:t>
            </a:r>
            <a:endParaRPr lang="en-US" sz="2400" dirty="0"/>
          </a:p>
          <a:p>
            <a:pPr indent="0" marL="0">
              <a:spcAft>
                <a:spcPts val="800"/>
              </a:spcAft>
              <a:buNone/>
            </a:pPr>
            <a:r>
              <a:rPr lang="en-US" sz="2400" b="1" dirty="0">
                <a:solidFill>
                  <a:srgbClr val="F4EFE4"/>
                </a:solidFill>
                <a:latin typeface="Arial" pitchFamily="34" charset="0"/>
                <a:ea typeface="Arial" pitchFamily="34" charset="-122"/>
                <a:cs typeface="Arial" pitchFamily="34" charset="-120"/>
              </a:rPr>
              <a:t>l'Italie</a:t>
            </a:r>
            <a:endParaRPr lang="en-US" sz="2400" dirty="0"/>
          </a:p>
          <a:p>
            <a:pPr indent="0" marL="0">
              <a:spcAft>
                <a:spcPts val="800"/>
              </a:spcAft>
              <a:buNone/>
            </a:pPr>
            <a:r>
              <a:rPr lang="en-US" sz="2400" b="1" dirty="0">
                <a:solidFill>
                  <a:srgbClr val="F4EFE4"/>
                </a:solidFill>
                <a:latin typeface="Arial" pitchFamily="34" charset="0"/>
                <a:ea typeface="Arial" pitchFamily="34" charset="-122"/>
                <a:cs typeface="Arial" pitchFamily="34" charset="-120"/>
              </a:rPr>
              <a:t>la Pologne</a:t>
            </a:r>
            <a:endParaRPr lang="en-US" sz="2400" dirty="0"/>
          </a:p>
          <a:p>
            <a:pPr indent="0" marL="0">
              <a:spcAft>
                <a:spcPts val="800"/>
              </a:spcAft>
              <a:buNone/>
            </a:pPr>
            <a:r>
              <a:rPr lang="en-US" sz="2400" b="1" dirty="0">
                <a:solidFill>
                  <a:srgbClr val="F4EFE4"/>
                </a:solidFill>
                <a:latin typeface="Arial" pitchFamily="34" charset="0"/>
                <a:ea typeface="Arial" pitchFamily="34" charset="-122"/>
                <a:cs typeface="Arial" pitchFamily="34" charset="-120"/>
              </a:rPr>
              <a:t>la Lettonie</a:t>
            </a:r>
            <a:endParaRPr lang="en-US" sz="2400" dirty="0"/>
          </a:p>
        </p:txBody>
      </p:sp>
      <p:sp>
        <p:nvSpPr>
          <p:cNvPr id="15" name="Text 1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16"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NOTRE PROGRAMME</a:t>
            </a:r>
            <a:endParaRPr lang="en-US" sz="1200" dirty="0"/>
          </a:p>
        </p:txBody>
      </p:sp>
      <p:sp>
        <p:nvSpPr>
          <p:cNvPr id="4" name="Text 1"/>
          <p:cNvSpPr txBox="1"/>
          <p:nvPr/>
        </p:nvSpPr>
        <p:spPr>
          <a:xfrm>
            <a:off x="548640" y="868680"/>
            <a:ext cx="11094415" cy="822960"/>
          </a:xfrm>
          <a:prstGeom prst="rect">
            <a:avLst/>
          </a:prstGeom>
          <a:noFill/>
          <a:ln/>
        </p:spPr>
        <p:txBody>
          <a:bodyPr wrap="square" lIns="0" tIns="0" rIns="0" bIns="0" rtlCol="0" anchor="t"/>
          <a:lstStyle/>
          <a:p>
            <a:pPr indent="0" marL="0">
              <a:buNone/>
            </a:pPr>
            <a:r>
              <a:rPr lang="en-US" sz="3400" b="1" dirty="0">
                <a:solidFill>
                  <a:srgbClr val="F4EFE4"/>
                </a:solidFill>
                <a:latin typeface="Arial" pitchFamily="34" charset="0"/>
                <a:ea typeface="Arial" pitchFamily="34" charset="-122"/>
                <a:cs typeface="Arial" pitchFamily="34" charset="-120"/>
              </a:rPr>
              <a:t>QUATRE CHIFFRES À RETENIR</a:t>
            </a:r>
            <a:endParaRPr lang="en-US" sz="3400" dirty="0"/>
          </a:p>
        </p:txBody>
      </p:sp>
      <p:sp>
        <p:nvSpPr>
          <p:cNvPr id="5" name="Shape 2"/>
          <p:cNvSpPr/>
          <p:nvPr/>
        </p:nvSpPr>
        <p:spPr>
          <a:xfrm>
            <a:off x="548640" y="1828800"/>
            <a:ext cx="5364328" cy="2057400"/>
          </a:xfrm>
          <a:prstGeom prst="rect">
            <a:avLst/>
          </a:prstGeom>
          <a:solidFill>
            <a:srgbClr val="0F4A46"/>
          </a:solidFill>
          <a:ln w="9525">
            <a:solidFill>
              <a:srgbClr val="2F6360"/>
            </a:solidFill>
            <a:prstDash val="solid"/>
          </a:ln>
        </p:spPr>
      </p:sp>
      <p:sp>
        <p:nvSpPr>
          <p:cNvPr id="6" name="Text 3"/>
          <p:cNvSpPr txBox="1"/>
          <p:nvPr/>
        </p:nvSpPr>
        <p:spPr>
          <a:xfrm>
            <a:off x="822960" y="2011680"/>
            <a:ext cx="4815688" cy="822960"/>
          </a:xfrm>
          <a:prstGeom prst="rect">
            <a:avLst/>
          </a:prstGeom>
          <a:noFill/>
          <a:ln/>
        </p:spPr>
        <p:txBody>
          <a:bodyPr wrap="square" lIns="0" tIns="0" rIns="0" bIns="0" rtlCol="0" anchor="ctr"/>
          <a:lstStyle/>
          <a:p>
            <a:pPr indent="0" marL="0">
              <a:buNone/>
            </a:pPr>
            <a:r>
              <a:rPr lang="en-US" sz="4400" b="1" dirty="0">
                <a:solidFill>
                  <a:srgbClr val="E9C53D"/>
                </a:solidFill>
                <a:latin typeface="Arial" pitchFamily="34" charset="0"/>
                <a:ea typeface="Arial" pitchFamily="34" charset="-122"/>
                <a:cs typeface="Arial" pitchFamily="34" charset="-120"/>
              </a:rPr>
              <a:t>1 050 €</a:t>
            </a:r>
            <a:endParaRPr lang="en-US" sz="4400" dirty="0"/>
          </a:p>
        </p:txBody>
      </p:sp>
      <p:sp>
        <p:nvSpPr>
          <p:cNvPr id="7" name="Text 4"/>
          <p:cNvSpPr txBox="1"/>
          <p:nvPr/>
        </p:nvSpPr>
        <p:spPr>
          <a:xfrm>
            <a:off x="822960" y="2834640"/>
            <a:ext cx="481568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PAR MOIS AU MINIMUM, SEUL</a:t>
            </a:r>
            <a:endParaRPr lang="en-US" sz="1100" dirty="0"/>
          </a:p>
        </p:txBody>
      </p:sp>
      <p:sp>
        <p:nvSpPr>
          <p:cNvPr id="8" name="Text 5"/>
          <p:cNvSpPr txBox="1"/>
          <p:nvPr/>
        </p:nvSpPr>
        <p:spPr>
          <a:xfrm>
            <a:off x="822960" y="3154680"/>
            <a:ext cx="4815688" cy="68580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1 600 € pour un couple. 800 € par personne, plus 250 € pour qui vit seul. Payés par l'impôt, dès 65 ans.</a:t>
            </a:r>
            <a:endParaRPr lang="en-US" sz="1300" dirty="0"/>
          </a:p>
        </p:txBody>
      </p:sp>
      <p:sp>
        <p:nvSpPr>
          <p:cNvPr id="9" name="Shape 6"/>
          <p:cNvSpPr/>
          <p:nvPr/>
        </p:nvSpPr>
        <p:spPr>
          <a:xfrm>
            <a:off x="6278728" y="1828800"/>
            <a:ext cx="5364328" cy="2057400"/>
          </a:xfrm>
          <a:prstGeom prst="rect">
            <a:avLst/>
          </a:prstGeom>
          <a:solidFill>
            <a:srgbClr val="0F4A46"/>
          </a:solidFill>
          <a:ln w="9525">
            <a:solidFill>
              <a:srgbClr val="2F6360"/>
            </a:solidFill>
            <a:prstDash val="solid"/>
          </a:ln>
        </p:spPr>
      </p:sp>
      <p:sp>
        <p:nvSpPr>
          <p:cNvPr id="10" name="Text 7"/>
          <p:cNvSpPr txBox="1"/>
          <p:nvPr/>
        </p:nvSpPr>
        <p:spPr>
          <a:xfrm>
            <a:off x="6553048" y="2011680"/>
            <a:ext cx="4815688" cy="822960"/>
          </a:xfrm>
          <a:prstGeom prst="rect">
            <a:avLst/>
          </a:prstGeom>
          <a:noFill/>
          <a:ln/>
        </p:spPr>
        <p:txBody>
          <a:bodyPr wrap="square" lIns="0" tIns="0" rIns="0" bIns="0" rtlCol="0" anchor="ctr"/>
          <a:lstStyle/>
          <a:p>
            <a:pPr indent="0" marL="0">
              <a:buNone/>
            </a:pPr>
            <a:r>
              <a:rPr lang="en-US" sz="4400" b="1" dirty="0">
                <a:solidFill>
                  <a:srgbClr val="E9C53D"/>
                </a:solidFill>
                <a:latin typeface="Arial" pitchFamily="34" charset="0"/>
                <a:ea typeface="Arial" pitchFamily="34" charset="-122"/>
                <a:cs typeface="Arial" pitchFamily="34" charset="-120"/>
              </a:rPr>
              <a:t>18 % + 5 %</a:t>
            </a:r>
            <a:endParaRPr lang="en-US" sz="4400" dirty="0"/>
          </a:p>
        </p:txBody>
      </p:sp>
      <p:sp>
        <p:nvSpPr>
          <p:cNvPr id="11" name="Text 8"/>
          <p:cNvSpPr txBox="1"/>
          <p:nvPr/>
        </p:nvSpPr>
        <p:spPr>
          <a:xfrm>
            <a:off x="6553048" y="2834640"/>
            <a:ext cx="481568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DE COTISATION</a:t>
            </a:r>
            <a:endParaRPr lang="en-US" sz="1100" dirty="0"/>
          </a:p>
        </p:txBody>
      </p:sp>
      <p:sp>
        <p:nvSpPr>
          <p:cNvPr id="12" name="Text 9"/>
          <p:cNvSpPr txBox="1"/>
          <p:nvPr/>
        </p:nvSpPr>
        <p:spPr>
          <a:xfrm>
            <a:off x="6553048" y="3154680"/>
            <a:ext cx="4815688" cy="68580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18 % au compte, salariale et patronale additionnées, contre 28 % aujourd'hui. Plus 5 % placés, à votre nom, transmissibles.</a:t>
            </a:r>
            <a:endParaRPr lang="en-US" sz="1300" dirty="0"/>
          </a:p>
        </p:txBody>
      </p:sp>
      <p:sp>
        <p:nvSpPr>
          <p:cNvPr id="13" name="Shape 10"/>
          <p:cNvSpPr/>
          <p:nvPr/>
        </p:nvSpPr>
        <p:spPr>
          <a:xfrm>
            <a:off x="548640" y="4114800"/>
            <a:ext cx="5364328" cy="2057400"/>
          </a:xfrm>
          <a:prstGeom prst="rect">
            <a:avLst/>
          </a:prstGeom>
          <a:solidFill>
            <a:srgbClr val="0F4A46"/>
          </a:solidFill>
          <a:ln w="9525">
            <a:solidFill>
              <a:srgbClr val="2F6360"/>
            </a:solidFill>
            <a:prstDash val="solid"/>
          </a:ln>
        </p:spPr>
      </p:sp>
      <p:sp>
        <p:nvSpPr>
          <p:cNvPr id="14" name="Text 11"/>
          <p:cNvSpPr txBox="1"/>
          <p:nvPr/>
        </p:nvSpPr>
        <p:spPr>
          <a:xfrm>
            <a:off x="822960" y="4297680"/>
            <a:ext cx="4815688" cy="822960"/>
          </a:xfrm>
          <a:prstGeom prst="rect">
            <a:avLst/>
          </a:prstGeom>
          <a:noFill/>
          <a:ln/>
        </p:spPr>
        <p:txBody>
          <a:bodyPr wrap="square" lIns="0" tIns="0" rIns="0" bIns="0" rtlCol="0" anchor="ctr"/>
          <a:lstStyle/>
          <a:p>
            <a:pPr indent="0" marL="0">
              <a:buNone/>
            </a:pPr>
            <a:r>
              <a:rPr lang="en-US" sz="4400" b="1" dirty="0">
                <a:solidFill>
                  <a:srgbClr val="E9C53D"/>
                </a:solidFill>
                <a:latin typeface="Arial" pitchFamily="34" charset="0"/>
                <a:ea typeface="Arial" pitchFamily="34" charset="-122"/>
                <a:cs typeface="Arial" pitchFamily="34" charset="-120"/>
              </a:rPr>
              <a:t>1 compte</a:t>
            </a:r>
            <a:endParaRPr lang="en-US" sz="4400" dirty="0"/>
          </a:p>
        </p:txBody>
      </p:sp>
      <p:sp>
        <p:nvSpPr>
          <p:cNvPr id="15" name="Text 12"/>
          <p:cNvSpPr txBox="1"/>
          <p:nvPr/>
        </p:nvSpPr>
        <p:spPr>
          <a:xfrm>
            <a:off x="822960" y="5120640"/>
            <a:ext cx="481568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EN EUROS, LISIBLE PAR TOUS</a:t>
            </a:r>
            <a:endParaRPr lang="en-US" sz="1100" dirty="0"/>
          </a:p>
        </p:txBody>
      </p:sp>
      <p:sp>
        <p:nvSpPr>
          <p:cNvPr id="16" name="Text 13"/>
          <p:cNvSpPr txBox="1"/>
          <p:nvPr/>
        </p:nvSpPr>
        <p:spPr>
          <a:xfrm>
            <a:off x="822960" y="5440680"/>
            <a:ext cx="4815688" cy="68580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Vous voyez votre solde comme sur un relevé bancaire.</a:t>
            </a:r>
            <a:endParaRPr lang="en-US" sz="1300" dirty="0"/>
          </a:p>
        </p:txBody>
      </p:sp>
      <p:sp>
        <p:nvSpPr>
          <p:cNvPr id="17" name="Shape 14"/>
          <p:cNvSpPr/>
          <p:nvPr/>
        </p:nvSpPr>
        <p:spPr>
          <a:xfrm>
            <a:off x="6278728" y="4114800"/>
            <a:ext cx="5364328" cy="2057400"/>
          </a:xfrm>
          <a:prstGeom prst="rect">
            <a:avLst/>
          </a:prstGeom>
          <a:solidFill>
            <a:srgbClr val="0F4A46"/>
          </a:solidFill>
          <a:ln w="9525">
            <a:solidFill>
              <a:srgbClr val="2F6360"/>
            </a:solidFill>
            <a:prstDash val="solid"/>
          </a:ln>
        </p:spPr>
      </p:sp>
      <p:sp>
        <p:nvSpPr>
          <p:cNvPr id="18" name="Text 15"/>
          <p:cNvSpPr txBox="1"/>
          <p:nvPr/>
        </p:nvSpPr>
        <p:spPr>
          <a:xfrm>
            <a:off x="6553048" y="4297680"/>
            <a:ext cx="4815688" cy="822960"/>
          </a:xfrm>
          <a:prstGeom prst="rect">
            <a:avLst/>
          </a:prstGeom>
          <a:noFill/>
          <a:ln/>
        </p:spPr>
        <p:txBody>
          <a:bodyPr wrap="square" lIns="0" tIns="0" rIns="0" bIns="0" rtlCol="0" anchor="ctr"/>
          <a:lstStyle/>
          <a:p>
            <a:pPr indent="0" marL="0">
              <a:buNone/>
            </a:pPr>
            <a:r>
              <a:rPr lang="en-US" sz="4400" b="1" dirty="0">
                <a:solidFill>
                  <a:srgbClr val="E9C53D"/>
                </a:solidFill>
                <a:latin typeface="Arial" pitchFamily="34" charset="0"/>
                <a:ea typeface="Arial" pitchFamily="34" charset="-122"/>
                <a:cs typeface="Arial" pitchFamily="34" charset="-120"/>
              </a:rPr>
              <a:t>100 %</a:t>
            </a:r>
            <a:endParaRPr lang="en-US" sz="4400" dirty="0"/>
          </a:p>
        </p:txBody>
      </p:sp>
      <p:sp>
        <p:nvSpPr>
          <p:cNvPr id="19" name="Text 16"/>
          <p:cNvSpPr txBox="1"/>
          <p:nvPr/>
        </p:nvSpPr>
        <p:spPr>
          <a:xfrm>
            <a:off x="6553048" y="5120640"/>
            <a:ext cx="481568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DE CE QUE VOUS AVEZ COTISÉ VOUS REVIENT</a:t>
            </a:r>
            <a:endParaRPr lang="en-US" sz="1100" dirty="0"/>
          </a:p>
        </p:txBody>
      </p:sp>
      <p:sp>
        <p:nvSpPr>
          <p:cNvPr id="20" name="Text 17"/>
          <p:cNvSpPr txBox="1"/>
          <p:nvPr/>
        </p:nvSpPr>
        <p:spPr>
          <a:xfrm>
            <a:off x="6553048" y="5440680"/>
            <a:ext cx="4815688" cy="68580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Partir plus tôt donne moins, plus tard donne plus, dans le rapport exact de ce que ça coûte.</a:t>
            </a:r>
            <a:endParaRPr lang="en-US" sz="1300" dirty="0"/>
          </a:p>
        </p:txBody>
      </p:sp>
      <p:sp>
        <p:nvSpPr>
          <p:cNvPr id="21" name="Text 1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22"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LA GARANTIE VIEILLESSE</a:t>
            </a:r>
            <a:endParaRPr lang="en-US" sz="1200" dirty="0"/>
          </a:p>
        </p:txBody>
      </p:sp>
      <p:sp>
        <p:nvSpPr>
          <p:cNvPr id="4" name="Text 1"/>
          <p:cNvSpPr txBox="1"/>
          <p:nvPr/>
        </p:nvSpPr>
        <p:spPr>
          <a:xfrm>
            <a:off x="548640" y="868680"/>
            <a:ext cx="11094415" cy="73152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LE PLANCHER REGARDE CHACUN, PAS LE COUPLE</a:t>
            </a:r>
            <a:endParaRPr lang="en-US" sz="3000" dirty="0"/>
          </a:p>
        </p:txBody>
      </p:sp>
      <p:sp>
        <p:nvSpPr>
          <p:cNvPr id="5" name="Text 2"/>
          <p:cNvSpPr txBox="1"/>
          <p:nvPr/>
        </p:nvSpPr>
        <p:spPr>
          <a:xfrm>
            <a:off x="548640" y="1828800"/>
            <a:ext cx="4023360" cy="2194560"/>
          </a:xfrm>
          <a:prstGeom prst="rect">
            <a:avLst/>
          </a:prstGeom>
          <a:noFill/>
          <a:ln/>
        </p:spPr>
        <p:txBody>
          <a:bodyPr wrap="square" lIns="0" tIns="0" rIns="0" bIns="0" rtlCol="0" anchor="t"/>
          <a:lstStyle/>
          <a:p>
            <a:pPr indent="0" marL="0">
              <a:buNone/>
            </a:pPr>
            <a:r>
              <a:rPr lang="en-US" sz="2000" dirty="0">
                <a:solidFill>
                  <a:srgbClr val="C3D8D4"/>
                </a:solidFill>
                <a:latin typeface="Cambria" pitchFamily="34" charset="0"/>
                <a:ea typeface="Cambria" pitchFamily="34" charset="-122"/>
                <a:cs typeface="Cambria" pitchFamily="34" charset="-120"/>
              </a:rPr>
              <a:t>Aujourd'hui, l'ASPA regarde les ressources du couple : </a:t>
            </a:r>
            <a:pPr indent="0" marL="0">
              <a:buNone/>
            </a:pPr>
            <a:r>
              <a:rPr lang="en-US" sz="2000" b="1" dirty="0">
                <a:solidFill>
                  <a:srgbClr val="F4EFE4"/>
                </a:solidFill>
                <a:latin typeface="Cambria" pitchFamily="34" charset="0"/>
                <a:ea typeface="Cambria" pitchFamily="34" charset="-122"/>
                <a:cs typeface="Cambria" pitchFamily="34" charset="-120"/>
              </a:rPr>
              <a:t>à 300 € et 1 500 € de pension, il ne reçoit rien.</a:t>
            </a:r>
            <a:pPr indent="0" marL="0">
              <a:buNone/>
            </a:pPr>
            <a:r>
              <a:rPr lang="en-US" sz="2000" dirty="0">
                <a:solidFill>
                  <a:srgbClr val="C3D8D4"/>
                </a:solidFill>
                <a:latin typeface="Cambria" pitchFamily="34" charset="0"/>
                <a:ea typeface="Cambria" pitchFamily="34" charset="-122"/>
                <a:cs typeface="Cambria" pitchFamily="34" charset="-120"/>
              </a:rPr>
              <a:t> La garantie regarde chacun.</a:t>
            </a:r>
            <a:endParaRPr lang="en-US" sz="2000" dirty="0"/>
          </a:p>
        </p:txBody>
      </p:sp>
      <p:sp>
        <p:nvSpPr>
          <p:cNvPr id="6" name="Text 3"/>
          <p:cNvSpPr txBox="1"/>
          <p:nvPr/>
        </p:nvSpPr>
        <p:spPr>
          <a:xfrm>
            <a:off x="548640" y="4206240"/>
            <a:ext cx="4023360" cy="1463040"/>
          </a:xfrm>
          <a:prstGeom prst="rect">
            <a:avLst/>
          </a:prstGeom>
          <a:noFill/>
          <a:ln/>
        </p:spPr>
        <p:txBody>
          <a:bodyPr wrap="square" lIns="0" tIns="0" rIns="0" bIns="0" rtlCol="0" anchor="t"/>
          <a:lstStyle/>
          <a:p>
            <a:pPr indent="0" marL="0">
              <a:buNone/>
            </a:pPr>
            <a:r>
              <a:rPr lang="en-US" sz="1400" dirty="0">
                <a:solidFill>
                  <a:srgbClr val="A7C3BF"/>
                </a:solidFill>
                <a:latin typeface="Calibri" pitchFamily="34" charset="0"/>
                <a:ea typeface="Calibri" pitchFamily="34" charset="-122"/>
                <a:cs typeface="Calibri" pitchFamily="34" charset="-120"/>
              </a:rPr>
              <a:t>800 € par personne, plus 250 € pour qui vit seul. Individualisé : la pension du conjoint ne compte pas. Financé par l'impôt, dès 65 ans.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0" y="1828800"/>
          <a:ext cx="6613855" cy="914400"/>
        </p:xfrm>
        <a:graphic>
          <a:graphicData uri="http://schemas.openxmlformats.org/drawingml/2006/table">
            <a:tbl>
              <a:tblPr/>
              <a:tblGrid>
                <a:gridCol w="2926080"/>
                <a:gridCol w="1828800"/>
                <a:gridCol w="1856232"/>
              </a:tblGrid>
              <a:tr h="548640">
                <a:tc>
                  <a:txBody>
                    <a:bodyPr/>
                    <a:lstStyle/>
                    <a:p>
                      <a:pPr algn="l" indent="0" marL="0">
                        <a:buNone/>
                      </a:pPr>
                      <a:r>
                        <a:rPr lang="en-US" sz="1600" b="1" dirty="0">
                          <a:solidFill>
                            <a:srgbClr val="E9C53D"/>
                          </a:solidFill>
                          <a:latin typeface="Calibri" pitchFamily="34" charset="0"/>
                          <a:ea typeface="Calibri" pitchFamily="34" charset="-122"/>
                          <a:cs typeface="Calibri" pitchFamily="34" charset="-120"/>
                        </a:rPr>
                        <a:t>Pensions des deux personnes</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ctr" indent="0" marL="0">
                        <a:buNone/>
                      </a:pPr>
                      <a:r>
                        <a:rPr lang="en-US" sz="1600" b="1" dirty="0">
                          <a:solidFill>
                            <a:srgbClr val="E9C53D"/>
                          </a:solidFill>
                          <a:latin typeface="Calibri" pitchFamily="34" charset="0"/>
                          <a:ea typeface="Calibri" pitchFamily="34" charset="-122"/>
                          <a:cs typeface="Calibri" pitchFamily="34" charset="-120"/>
                        </a:rPr>
                        <a:t>Aujourd'hui (ASPA)</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ctr" indent="0" marL="0">
                        <a:buNone/>
                      </a:pPr>
                      <a:r>
                        <a:rPr lang="en-US" sz="1600" b="1" dirty="0">
                          <a:solidFill>
                            <a:srgbClr val="E9C53D"/>
                          </a:solidFill>
                          <a:latin typeface="Calibri" pitchFamily="34" charset="0"/>
                          <a:ea typeface="Calibri" pitchFamily="34" charset="-122"/>
                          <a:cs typeface="Calibri" pitchFamily="34" charset="-120"/>
                        </a:rPr>
                        <a:t>Avec la garantie</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r>
              <a:tr h="548640">
                <a:tc>
                  <a:txBody>
                    <a:bodyPr/>
                    <a:lstStyle/>
                    <a:p>
                      <a:pPr algn="l" indent="0" marL="0">
                        <a:buNone/>
                      </a:pPr>
                      <a:r>
                        <a:rPr lang="en-US" sz="1600" b="1" dirty="0">
                          <a:solidFill>
                            <a:srgbClr val="F4EFE4"/>
                          </a:solidFill>
                          <a:latin typeface="Calibri" pitchFamily="34" charset="0"/>
                          <a:ea typeface="Calibri" pitchFamily="34" charset="-122"/>
                          <a:cs typeface="Calibri" pitchFamily="34" charset="-120"/>
                        </a:rPr>
                        <a:t>300 € et 300 €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1 000 €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1 000 €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r>
              <a:tr h="548640">
                <a:tc>
                  <a:txBody>
                    <a:bodyPr/>
                    <a:lstStyle/>
                    <a:p>
                      <a:pPr algn="l" indent="0" marL="0">
                        <a:buNone/>
                      </a:pPr>
                      <a:r>
                        <a:rPr lang="en-US" sz="1600" b="1" dirty="0">
                          <a:solidFill>
                            <a:srgbClr val="F4EFE4"/>
                          </a:solidFill>
                          <a:latin typeface="Calibri" pitchFamily="34" charset="0"/>
                          <a:ea typeface="Calibri" pitchFamily="34" charset="-122"/>
                          <a:cs typeface="Calibri" pitchFamily="34" charset="-120"/>
                        </a:rPr>
                        <a:t>300 € et 1 500 €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500 €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r>
              <a:tr h="548640">
                <a:tc>
                  <a:txBody>
                    <a:bodyPr/>
                    <a:lstStyle/>
                    <a:p>
                      <a:pPr algn="l" indent="0" marL="0">
                        <a:buNone/>
                      </a:pPr>
                      <a:r>
                        <a:rPr lang="en-US" sz="1600" b="1" dirty="0">
                          <a:solidFill>
                            <a:srgbClr val="F4EFE4"/>
                          </a:solidFill>
                          <a:latin typeface="Calibri" pitchFamily="34" charset="0"/>
                          <a:ea typeface="Calibri" pitchFamily="34" charset="-122"/>
                          <a:cs typeface="Calibri" pitchFamily="34" charset="-120"/>
                        </a:rPr>
                        <a:t>900 € et 900 €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r>
              <a:tr h="548640">
                <a:tc>
                  <a:txBody>
                    <a:bodyPr/>
                    <a:lstStyle/>
                    <a:p>
                      <a:pPr algn="l" indent="0" marL="0">
                        <a:buNone/>
                      </a:pPr>
                      <a:r>
                        <a:rPr lang="en-US" sz="1600" b="1" dirty="0">
                          <a:solidFill>
                            <a:srgbClr val="F4EFE4"/>
                          </a:solidFill>
                          <a:latin typeface="Calibri" pitchFamily="34" charset="0"/>
                          <a:ea typeface="Calibri" pitchFamily="34" charset="-122"/>
                          <a:cs typeface="Calibri" pitchFamily="34" charset="-120"/>
                        </a:rPr>
                        <a:t>300 € et 5 000 €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500 €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r>
              <a:tr h="548640">
                <a:tc>
                  <a:txBody>
                    <a:bodyPr/>
                    <a:lstStyle/>
                    <a:p>
                      <a:pPr algn="l" indent="0" marL="0">
                        <a:buNone/>
                      </a:pPr>
                      <a:r>
                        <a:rPr lang="en-US" sz="1600" b="1" dirty="0">
                          <a:solidFill>
                            <a:srgbClr val="F4EFE4"/>
                          </a:solidFill>
                          <a:latin typeface="Calibri" pitchFamily="34" charset="0"/>
                          <a:ea typeface="Calibri" pitchFamily="34" charset="-122"/>
                          <a:cs typeface="Calibri" pitchFamily="34" charset="-120"/>
                        </a:rPr>
                        <a:t>Personne seule, 300 €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750 €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ctr" indent="0" marL="0">
                        <a:buNone/>
                      </a:pPr>
                      <a:r>
                        <a:rPr lang="en-US" sz="1600" dirty="0">
                          <a:solidFill>
                            <a:srgbClr val="C3D8D4"/>
                          </a:solidFill>
                          <a:latin typeface="Calibri" pitchFamily="34" charset="0"/>
                          <a:ea typeface="Calibri" pitchFamily="34" charset="-122"/>
                          <a:cs typeface="Calibri" pitchFamily="34" charset="-120"/>
                        </a:rPr>
                        <a:t>750 €</a:t>
                      </a:r>
                      <a:endParaRPr lang="en-US" sz="16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r>
            </a:tbl>
          </a:graphicData>
        </a:graphic>
      </p:graphicFrame>
      <p:sp>
        <p:nvSpPr>
          <p:cNvPr id="8" name="Text 4"/>
          <p:cNvSpPr txBox="1"/>
          <p:nvPr/>
        </p:nvSpPr>
        <p:spPr>
          <a:xfrm>
            <a:off x="5029200" y="5303520"/>
            <a:ext cx="6400800" cy="320040"/>
          </a:xfrm>
          <a:prstGeom prst="rect">
            <a:avLst/>
          </a:prstGeom>
          <a:noFill/>
          <a:ln/>
        </p:spPr>
        <p:txBody>
          <a:bodyPr wrap="square" lIns="0" tIns="0" rIns="0" bIns="0" rtlCol="0" anchor="ctr"/>
          <a:lstStyle/>
          <a:p>
            <a:pPr indent="0" marL="0">
              <a:buNone/>
            </a:pPr>
            <a:r>
              <a:rPr lang="en-US" sz="1100" i="1" dirty="0">
                <a:solidFill>
                  <a:srgbClr val="A7C3BF"/>
                </a:solidFill>
                <a:latin typeface="Calibri" pitchFamily="34" charset="0"/>
                <a:ea typeface="Calibri" pitchFamily="34" charset="-122"/>
                <a:cs typeface="Calibri" pitchFamily="34" charset="-120"/>
              </a:rPr>
              <a:t>Ce que le plancher individualisé change, par mois.</a:t>
            </a:r>
            <a:endParaRPr lang="en-US" sz="1100" dirty="0"/>
          </a:p>
        </p:txBody>
      </p:sp>
      <p:sp>
        <p:nvSpPr>
          <p:cNvPr id="9" name="Text 5"/>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10" name="Text 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CE QUE CELA CHANGE</a:t>
            </a:r>
            <a:endParaRPr lang="en-US" sz="1200" dirty="0"/>
          </a:p>
        </p:txBody>
      </p:sp>
      <p:sp>
        <p:nvSpPr>
          <p:cNvPr id="4" name="Text 1"/>
          <p:cNvSpPr txBox="1"/>
          <p:nvPr/>
        </p:nvSpPr>
        <p:spPr>
          <a:xfrm>
            <a:off x="548640" y="868680"/>
            <a:ext cx="11094415" cy="731520"/>
          </a:xfrm>
          <a:prstGeom prst="rect">
            <a:avLst/>
          </a:prstGeom>
          <a:noFill/>
          <a:ln/>
        </p:spPr>
        <p:txBody>
          <a:bodyPr wrap="square" lIns="0" tIns="0" rIns="0" bIns="0" rtlCol="0" anchor="t"/>
          <a:lstStyle/>
          <a:p>
            <a:pPr indent="0" marL="0">
              <a:buNone/>
            </a:pPr>
            <a:r>
              <a:rPr lang="en-US" sz="2800" b="1" dirty="0">
                <a:solidFill>
                  <a:srgbClr val="F4EFE4"/>
                </a:solidFill>
                <a:latin typeface="Arial" pitchFamily="34" charset="0"/>
                <a:ea typeface="Arial" pitchFamily="34" charset="-122"/>
                <a:cs typeface="Arial" pitchFamily="34" charset="-120"/>
              </a:rPr>
              <a:t>AUJOURD'HUI ET NOTRE PROGRAMME, TERME À TERME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926080"/>
                <a:gridCol w="4023360"/>
                <a:gridCol w="4142232"/>
              </a:tblGrid>
              <a:tr h="502920">
                <a:tc>
                  <a:txBody>
                    <a:bodyPr/>
                    <a:lstStyle/>
                    <a:p>
                      <a:pPr algn="l" indent="0" marL="0">
                        <a:buNone/>
                      </a:pP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l" indent="0" marL="0">
                        <a:buNone/>
                      </a:pPr>
                      <a:r>
                        <a:rPr lang="en-US" sz="1400" b="1" dirty="0">
                          <a:solidFill>
                            <a:srgbClr val="E9C53D"/>
                          </a:solidFill>
                          <a:latin typeface="Calibri" pitchFamily="34" charset="0"/>
                          <a:ea typeface="Calibri" pitchFamily="34" charset="-122"/>
                          <a:cs typeface="Calibri" pitchFamily="34" charset="-120"/>
                        </a:rPr>
                        <a:t>Aujourd'hui</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l" indent="0" marL="0">
                        <a:buNone/>
                      </a:pPr>
                      <a:r>
                        <a:rPr lang="en-US" sz="1400" b="1" dirty="0">
                          <a:solidFill>
                            <a:srgbClr val="E9C53D"/>
                          </a:solidFill>
                          <a:latin typeface="Calibri" pitchFamily="34" charset="0"/>
                          <a:ea typeface="Calibri" pitchFamily="34" charset="-122"/>
                          <a:cs typeface="Calibri" pitchFamily="34" charset="-120"/>
                        </a:rPr>
                        <a:t>Avec notre programme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r>
              <a:tr h="502920">
                <a:tc>
                  <a:txBody>
                    <a:bodyPr/>
                    <a:lstStyle/>
                    <a:p>
                      <a:pPr algn="l" indent="0" marL="0">
                        <a:buNone/>
                      </a:pPr>
                      <a:r>
                        <a:rPr lang="en-US" sz="1400" b="1" dirty="0">
                          <a:solidFill>
                            <a:srgbClr val="F4EFE4"/>
                          </a:solidFill>
                          <a:latin typeface="Calibri" pitchFamily="34" charset="0"/>
                          <a:ea typeface="Calibri" pitchFamily="34" charset="-122"/>
                          <a:cs typeface="Calibri" pitchFamily="34" charset="-120"/>
                        </a:rPr>
                        <a:t>Ce qui ouvre un droit</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des trimestres, et 72 barèmes différents</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une cotisation versée, et elle seule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r>
              <a:tr h="502920">
                <a:tc>
                  <a:txBody>
                    <a:bodyPr/>
                    <a:lstStyle/>
                    <a:p>
                      <a:pPr algn="l" indent="0" marL="0">
                        <a:buNone/>
                      </a:pPr>
                      <a:r>
                        <a:rPr lang="en-US" sz="1400" b="1" dirty="0">
                          <a:solidFill>
                            <a:srgbClr val="F4EFE4"/>
                          </a:solidFill>
                          <a:latin typeface="Calibri" pitchFamily="34" charset="0"/>
                          <a:ea typeface="Calibri" pitchFamily="34" charset="-122"/>
                          <a:cs typeface="Calibri" pitchFamily="34" charset="-120"/>
                        </a:rPr>
                        <a:t>Ce qui fait le montant</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vos 25 meilleures années, un taux, une durée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votre compte, divisé par votre espérance de vie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r>
              <a:tr h="502920">
                <a:tc>
                  <a:txBody>
                    <a:bodyPr/>
                    <a:lstStyle/>
                    <a:p>
                      <a:pPr algn="l" indent="0" marL="0">
                        <a:buNone/>
                      </a:pPr>
                      <a:r>
                        <a:rPr lang="en-US" sz="1400" b="1" dirty="0">
                          <a:solidFill>
                            <a:srgbClr val="F4EFE4"/>
                          </a:solidFill>
                          <a:latin typeface="Calibri" pitchFamily="34" charset="0"/>
                          <a:ea typeface="Calibri" pitchFamily="34" charset="-122"/>
                          <a:cs typeface="Calibri" pitchFamily="34" charset="-120"/>
                        </a:rPr>
                        <a:t>Partir un an plus tôt</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une décote, dont le barème change à chaque réforme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un an de cotisation en moins, un an de pension en plus</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r>
              <a:tr h="502920">
                <a:tc>
                  <a:txBody>
                    <a:bodyPr/>
                    <a:lstStyle/>
                    <a:p>
                      <a:pPr algn="l" indent="0" marL="0">
                        <a:buNone/>
                      </a:pPr>
                      <a:r>
                        <a:rPr lang="en-US" sz="1400" b="1" dirty="0">
                          <a:solidFill>
                            <a:srgbClr val="F4EFE4"/>
                          </a:solidFill>
                          <a:latin typeface="Calibri" pitchFamily="34" charset="0"/>
                          <a:ea typeface="Calibri" pitchFamily="34" charset="-122"/>
                          <a:cs typeface="Calibri" pitchFamily="34" charset="-120"/>
                        </a:rPr>
                        <a:t>Changer de métier</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changer de régime, et de règle de calcul</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rien : le compte est le même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r>
              <a:tr h="502920">
                <a:tc>
                  <a:txBody>
                    <a:bodyPr/>
                    <a:lstStyle/>
                    <a:p>
                      <a:pPr algn="l" indent="0" marL="0">
                        <a:buNone/>
                      </a:pPr>
                      <a:r>
                        <a:rPr lang="en-US" sz="1400" b="1" dirty="0">
                          <a:solidFill>
                            <a:srgbClr val="F4EFE4"/>
                          </a:solidFill>
                          <a:latin typeface="Calibri" pitchFamily="34" charset="0"/>
                          <a:ea typeface="Calibri" pitchFamily="34" charset="-122"/>
                          <a:cs typeface="Calibri" pitchFamily="34" charset="-120"/>
                        </a:rPr>
                        <a:t>Savoir où vous en êtes</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un relevé en trimestres et en points</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un solde, en euros</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r>
              <a:tr h="502920">
                <a:tc>
                  <a:txBody>
                    <a:bodyPr/>
                    <a:lstStyle/>
                    <a:p>
                      <a:pPr algn="l" indent="0" marL="0">
                        <a:buNone/>
                      </a:pPr>
                      <a:r>
                        <a:rPr lang="en-US" sz="1400" b="1" dirty="0">
                          <a:solidFill>
                            <a:srgbClr val="F4EFE4"/>
                          </a:solidFill>
                          <a:latin typeface="Calibri" pitchFamily="34" charset="0"/>
                          <a:ea typeface="Calibri" pitchFamily="34" charset="-122"/>
                          <a:cs typeface="Calibri" pitchFamily="34" charset="-120"/>
                        </a:rPr>
                        <a:t>Tenir l'équilibre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une réforme, tous les huit ans en moyenne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un chiffre publié chaque année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B3D3A"/>
                    </a:solidFill>
                  </a:tcPr>
                </a:tc>
              </a:tr>
              <a:tr h="502920">
                <a:tc>
                  <a:txBody>
                    <a:bodyPr/>
                    <a:lstStyle/>
                    <a:p>
                      <a:pPr algn="l" indent="0" marL="0">
                        <a:buNone/>
                      </a:pPr>
                      <a:r>
                        <a:rPr lang="en-US" sz="1400" b="1" dirty="0">
                          <a:solidFill>
                            <a:srgbClr val="F4EFE4"/>
                          </a:solidFill>
                          <a:latin typeface="Calibri" pitchFamily="34" charset="0"/>
                          <a:ea typeface="Calibri" pitchFamily="34" charset="-122"/>
                          <a:cs typeface="Calibri" pitchFamily="34" charset="-120"/>
                        </a:rPr>
                        <a:t>Si vous mourez avant la retraite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vos cotisations restent au système</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c>
                  <a:txBody>
                    <a:bodyPr/>
                    <a:lstStyle/>
                    <a:p>
                      <a:pPr algn="l" indent="0" marL="0">
                        <a:buNone/>
                      </a:pPr>
                      <a:r>
                        <a:rPr lang="en-US" sz="1400" dirty="0">
                          <a:solidFill>
                            <a:srgbClr val="C3D8D4"/>
                          </a:solidFill>
                          <a:latin typeface="Calibri" pitchFamily="34" charset="0"/>
                          <a:ea typeface="Calibri" pitchFamily="34" charset="-122"/>
                          <a:cs typeface="Calibri" pitchFamily="34" charset="-120"/>
                        </a:rPr>
                        <a:t>le capital de la part capitalisée revient à vos héritiers</a:t>
                      </a:r>
                      <a:endParaRPr lang="en-US" sz="1400" dirty="0">
                        <a:latin typeface="Calibri" charset="0"/>
                        <a:ea typeface="Calibri" charset="0"/>
                        <a:cs typeface="Calibri" charset="0"/>
                      </a:endParaRPr>
                    </a:p>
                  </a:txBody>
                  <a:tcPr marL="101600" marR="101600" marT="50800" marB="50800" anchor="ctr">
                    <a:lnL w="6350" cap="flat" cmpd="sng" algn="ctr">
                      <a:solidFill>
                        <a:srgbClr val="2F6360"/>
                      </a:solidFill>
                      <a:prstDash val="solid"/>
                      <a:round/>
                      <a:headEnd type="none" w="med" len="med"/>
                      <a:tailEnd type="none" w="med" len="med"/>
                    </a:lnL>
                    <a:lnR w="6350" cap="flat" cmpd="sng" algn="ctr">
                      <a:solidFill>
                        <a:srgbClr val="2F6360"/>
                      </a:solidFill>
                      <a:prstDash val="solid"/>
                      <a:round/>
                      <a:headEnd type="none" w="med" len="med"/>
                      <a:tailEnd type="none" w="med" len="med"/>
                    </a:lnR>
                    <a:lnT w="6350" cap="flat" cmpd="sng" algn="ctr">
                      <a:solidFill>
                        <a:srgbClr val="2F6360"/>
                      </a:solidFill>
                      <a:prstDash val="solid"/>
                      <a:round/>
                      <a:headEnd type="none" w="med" len="med"/>
                      <a:tailEnd type="none" w="med" len="med"/>
                    </a:lnT>
                    <a:lnB w="6350" cap="flat" cmpd="sng" algn="ctr">
                      <a:solidFill>
                        <a:srgbClr val="2F6360"/>
                      </a:solidFill>
                      <a:prstDash val="solid"/>
                      <a:round/>
                      <a:headEnd type="none" w="med" len="med"/>
                      <a:tailEnd type="none" w="med" len="med"/>
                    </a:lnB>
                    <a:solidFill>
                      <a:srgbClr val="0F4A46"/>
                    </a:solidFill>
                  </a:tcPr>
                </a:tc>
              </a:tr>
            </a:tbl>
          </a:graphicData>
        </a:graphic>
      </p:graphicFrame>
      <p:sp>
        <p:nvSpPr>
          <p:cNvPr id="6"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7"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 SITE</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NEUF ONGLETS, ET TOUT SE CALCULE CHEZ VOUS</a:t>
            </a:r>
            <a:endParaRPr lang="en-US" sz="3000" dirty="0"/>
          </a:p>
        </p:txBody>
      </p:sp>
      <p:pic>
        <p:nvPicPr>
          <p:cNvPr id="5" name="Image 0" descr="/tmp/claude-0/-home-user-retraitecomptenotionelle/a76803f7-4b55-5595-a5c7-976d4a1e9c11/scratchpad/cap/accueil-haut-c.png">    </p:cNvPr>
          <p:cNvPicPr>
            <a:picLocks noChangeAspect="1"/>
          </p:cNvPicPr>
          <p:nvPr/>
        </p:nvPicPr>
        <p:blipFill>
          <a:blip r:embed="rId1"/>
          <a:stretch>
            <a:fillRect/>
          </a:stretch>
        </p:blipFill>
        <p:spPr>
          <a:xfrm>
            <a:off x="548640" y="1645920"/>
            <a:ext cx="7498080" cy="3320578"/>
          </a:xfrm>
          <a:prstGeom prst="rect">
            <a:avLst/>
          </a:prstGeom>
        </p:spPr>
      </p:pic>
      <p:sp>
        <p:nvSpPr>
          <p:cNvPr id="6" name="Text 2"/>
          <p:cNvSpPr txBox="1"/>
          <p:nvPr/>
        </p:nvSpPr>
        <p:spPr>
          <a:xfrm>
            <a:off x="8321040" y="1737360"/>
            <a:ext cx="3337560"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Rien n'est envoyé</a:t>
            </a:r>
            <a:endParaRPr lang="en-US" sz="1500" dirty="0"/>
          </a:p>
        </p:txBody>
      </p:sp>
      <p:sp>
        <p:nvSpPr>
          <p:cNvPr id="7" name="Text 3"/>
          <p:cNvSpPr txBox="1"/>
          <p:nvPr/>
        </p:nvSpPr>
        <p:spPr>
          <a:xfrm>
            <a:off x="8321040" y="2121408"/>
            <a:ext cx="3337560" cy="100584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Le modèle et ses données s'exécutent dans votre navigateur. Aucune donnée saisie ne quitte votre machine.</a:t>
            </a:r>
            <a:endParaRPr lang="en-US" sz="1300" dirty="0"/>
          </a:p>
        </p:txBody>
      </p:sp>
      <p:sp>
        <p:nvSpPr>
          <p:cNvPr id="8" name="Text 4"/>
          <p:cNvSpPr txBox="1"/>
          <p:nvPr/>
        </p:nvSpPr>
        <p:spPr>
          <a:xfrm>
            <a:off x="8321040" y="3246120"/>
            <a:ext cx="3337560"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Une adresse, rien à installer</a:t>
            </a:r>
            <a:endParaRPr lang="en-US" sz="1500" dirty="0"/>
          </a:p>
        </p:txBody>
      </p:sp>
      <p:sp>
        <p:nvSpPr>
          <p:cNvPr id="9" name="Text 5"/>
          <p:cNvSpPr txBox="1"/>
          <p:nvPr/>
        </p:nvSpPr>
        <p:spPr>
          <a:xfrm>
            <a:off x="8321040" y="3630168"/>
            <a:ext cx="3337560" cy="100584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Le premier chargement pèse moins d'un mégaoctet. La simulation se partage par son adresse.</a:t>
            </a:r>
            <a:endParaRPr lang="en-US" sz="1300" dirty="0"/>
          </a:p>
        </p:txBody>
      </p:sp>
      <p:sp>
        <p:nvSpPr>
          <p:cNvPr id="10" name="Text 6"/>
          <p:cNvSpPr txBox="1"/>
          <p:nvPr/>
        </p:nvSpPr>
        <p:spPr>
          <a:xfrm>
            <a:off x="8321040" y="4754880"/>
            <a:ext cx="3337560"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Modèle ouvert</a:t>
            </a:r>
            <a:endParaRPr lang="en-US" sz="1500" dirty="0"/>
          </a:p>
        </p:txBody>
      </p:sp>
      <p:sp>
        <p:nvSpPr>
          <p:cNvPr id="11" name="Text 7"/>
          <p:cNvSpPr txBox="1"/>
          <p:nvPr/>
        </p:nvSpPr>
        <p:spPr>
          <a:xfrm>
            <a:off x="8321040" y="5138928"/>
            <a:ext cx="3337560" cy="100584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Code et données publics sur GitHub, sous licence libre. Ce simulateur n'a aucune valeur officielle.</a:t>
            </a:r>
            <a:endParaRPr lang="en-US" sz="1300" dirty="0"/>
          </a:p>
        </p:txBody>
      </p:sp>
      <p:sp>
        <p:nvSpPr>
          <p:cNvPr id="12" name="Text 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13"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 SIMULATEUR</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VOTRE CARRIÈRE, CALCULÉE QUATRE FOIS</a:t>
            </a:r>
            <a:endParaRPr lang="en-US" sz="3000" dirty="0"/>
          </a:p>
        </p:txBody>
      </p:sp>
      <p:sp>
        <p:nvSpPr>
          <p:cNvPr id="5" name="Text 2"/>
          <p:cNvSpPr txBox="1"/>
          <p:nvPr/>
        </p:nvSpPr>
        <p:spPr>
          <a:xfrm>
            <a:off x="548640" y="1417320"/>
            <a:ext cx="11094415" cy="365760"/>
          </a:xfrm>
          <a:prstGeom prst="rect">
            <a:avLst/>
          </a:prstGeom>
          <a:noFill/>
          <a:ln/>
        </p:spPr>
        <p:txBody>
          <a:bodyPr wrap="square" lIns="0" tIns="0" rIns="0" bIns="0" rtlCol="0" anchor="ctr"/>
          <a:lstStyle/>
          <a:p>
            <a:pPr indent="0" marL="0">
              <a:buNone/>
            </a:pPr>
            <a:r>
              <a:rPr lang="en-US" sz="1300" dirty="0">
                <a:solidFill>
                  <a:srgbClr val="A7C3BF"/>
                </a:solidFill>
                <a:latin typeface="Calibri" pitchFamily="34" charset="0"/>
                <a:ea typeface="Calibri" pitchFamily="34" charset="-122"/>
                <a:cs typeface="Calibri" pitchFamily="34" charset="-120"/>
              </a:rPr>
              <a:t>Né en 1975, salarié du privé non cadre depuis 1996, 3 500 € net par mois, départ à 64 ans en 2039. Montants nets, par mois, en euros de 2026.</a:t>
            </a:r>
            <a:endParaRPr lang="en-US" sz="1300" dirty="0"/>
          </a:p>
        </p:txBody>
      </p:sp>
      <p:pic>
        <p:nvPicPr>
          <p:cNvPr id="6" name="Image 0" descr="/tmp/claude-0/-home-user-retraitecomptenotionelle/a76803f7-4b55-5595-a5c7-976d4a1e9c11/scratchpad/cap/simuler-resultats-c.png">    </p:cNvPr>
          <p:cNvPicPr>
            <a:picLocks noChangeAspect="1"/>
          </p:cNvPicPr>
          <p:nvPr/>
        </p:nvPicPr>
        <p:blipFill>
          <a:blip r:embed="rId1"/>
          <a:stretch>
            <a:fillRect/>
          </a:stretch>
        </p:blipFill>
        <p:spPr>
          <a:xfrm>
            <a:off x="2411666" y="1828800"/>
            <a:ext cx="7368363" cy="4526280"/>
          </a:xfrm>
          <a:prstGeom prst="rect">
            <a:avLst/>
          </a:prstGeom>
        </p:spPr>
      </p:pic>
      <p:sp>
        <p:nvSpPr>
          <p:cNvPr id="7"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8"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 SIMULATEUR</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COMMENT LIRE LES QUATRE LIGNES</a:t>
            </a:r>
            <a:endParaRPr lang="en-US" sz="3000" dirty="0"/>
          </a:p>
        </p:txBody>
      </p:sp>
      <p:sp>
        <p:nvSpPr>
          <p:cNvPr id="5" name="Shape 2"/>
          <p:cNvSpPr/>
          <p:nvPr/>
        </p:nvSpPr>
        <p:spPr>
          <a:xfrm>
            <a:off x="548640" y="1600200"/>
            <a:ext cx="2567864" cy="4480560"/>
          </a:xfrm>
          <a:prstGeom prst="rect">
            <a:avLst/>
          </a:prstGeom>
          <a:solidFill>
            <a:srgbClr val="0F4A46"/>
          </a:solidFill>
          <a:ln w="9525">
            <a:solidFill>
              <a:srgbClr val="2F6360"/>
            </a:solidFill>
            <a:prstDash val="solid"/>
          </a:ln>
        </p:spPr>
      </p:sp>
      <p:sp>
        <p:nvSpPr>
          <p:cNvPr id="6" name="Shape 3"/>
          <p:cNvSpPr/>
          <p:nvPr/>
        </p:nvSpPr>
        <p:spPr>
          <a:xfrm>
            <a:off x="777240" y="1828800"/>
            <a:ext cx="502920" cy="502920"/>
          </a:xfrm>
          <a:prstGeom prst="ellipse">
            <a:avLst/>
          </a:prstGeom>
          <a:solidFill>
            <a:srgbClr val="76A2FF"/>
          </a:solidFill>
          <a:ln w="12700">
            <a:solidFill>
              <a:srgbClr val="76A2FF"/>
            </a:solidFill>
            <a:prstDash val="solid"/>
          </a:ln>
        </p:spPr>
      </p:sp>
      <p:sp>
        <p:nvSpPr>
          <p:cNvPr id="7" name="Text 4"/>
          <p:cNvSpPr txBox="1"/>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0B3D3A"/>
                </a:solidFill>
                <a:latin typeface="Arial" pitchFamily="34" charset="0"/>
                <a:ea typeface="Arial" pitchFamily="34" charset="-122"/>
                <a:cs typeface="Arial" pitchFamily="34" charset="-120"/>
              </a:rPr>
              <a:t>1</a:t>
            </a:r>
            <a:endParaRPr lang="en-US" sz="1800" dirty="0"/>
          </a:p>
        </p:txBody>
      </p:sp>
      <p:sp>
        <p:nvSpPr>
          <p:cNvPr id="8" name="Text 5"/>
          <p:cNvSpPr txBox="1"/>
          <p:nvPr/>
        </p:nvSpPr>
        <p:spPr>
          <a:xfrm>
            <a:off x="777240" y="2468880"/>
            <a:ext cx="2110664" cy="640080"/>
          </a:xfrm>
          <a:prstGeom prst="rect">
            <a:avLst/>
          </a:prstGeom>
          <a:noFill/>
          <a:ln/>
        </p:spPr>
        <p:txBody>
          <a:bodyPr wrap="square" lIns="0" tIns="0" rIns="0" bIns="0" rtlCol="0" anchor="ctr"/>
          <a:lstStyle/>
          <a:p>
            <a:pPr indent="0" marL="0">
              <a:buNone/>
            </a:pPr>
            <a:r>
              <a:rPr lang="en-US" sz="3000" b="1" dirty="0">
                <a:solidFill>
                  <a:srgbClr val="F4EFE4"/>
                </a:solidFill>
                <a:latin typeface="Arial" pitchFamily="34" charset="0"/>
                <a:ea typeface="Arial" pitchFamily="34" charset="-122"/>
                <a:cs typeface="Arial" pitchFamily="34" charset="-120"/>
              </a:rPr>
              <a:t>2 807 €</a:t>
            </a:r>
            <a:endParaRPr lang="en-US" sz="3000" dirty="0"/>
          </a:p>
        </p:txBody>
      </p:sp>
      <p:sp>
        <p:nvSpPr>
          <p:cNvPr id="9" name="Text 6"/>
          <p:cNvSpPr txBox="1"/>
          <p:nvPr/>
        </p:nvSpPr>
        <p:spPr>
          <a:xfrm>
            <a:off x="777240" y="3081528"/>
            <a:ext cx="2110664" cy="274320"/>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net par mois</a:t>
            </a:r>
            <a:endParaRPr lang="en-US" sz="1100" dirty="0"/>
          </a:p>
        </p:txBody>
      </p:sp>
      <p:sp>
        <p:nvSpPr>
          <p:cNvPr id="10" name="Text 7"/>
          <p:cNvSpPr txBox="1"/>
          <p:nvPr/>
        </p:nvSpPr>
        <p:spPr>
          <a:xfrm>
            <a:off x="777240" y="3474720"/>
            <a:ext cx="2110664" cy="365760"/>
          </a:xfrm>
          <a:prstGeom prst="rect">
            <a:avLst/>
          </a:prstGeom>
          <a:noFill/>
          <a:ln/>
        </p:spPr>
        <p:txBody>
          <a:bodyPr wrap="square" lIns="0" tIns="0" rIns="0" bIns="0" rtlCol="0" anchor="ctr"/>
          <a:lstStyle/>
          <a:p>
            <a:pPr indent="0" marL="0">
              <a:buNone/>
            </a:pPr>
            <a:r>
              <a:rPr lang="en-US" sz="1400" b="1" dirty="0">
                <a:solidFill>
                  <a:srgbClr val="E9C53D"/>
                </a:solidFill>
                <a:latin typeface="Arial" pitchFamily="34" charset="0"/>
                <a:ea typeface="Arial" pitchFamily="34" charset="-122"/>
                <a:cs typeface="Arial" pitchFamily="34" charset="-120"/>
              </a:rPr>
              <a:t>Système actuel</a:t>
            </a:r>
            <a:endParaRPr lang="en-US" sz="1400" dirty="0"/>
          </a:p>
        </p:txBody>
      </p:sp>
      <p:sp>
        <p:nvSpPr>
          <p:cNvPr id="11" name="Text 8"/>
          <p:cNvSpPr txBox="1"/>
          <p:nvPr/>
        </p:nvSpPr>
        <p:spPr>
          <a:xfrm>
            <a:off x="777240" y="3886200"/>
            <a:ext cx="2110664" cy="594360"/>
          </a:xfrm>
          <a:prstGeom prst="rect">
            <a:avLst/>
          </a:prstGeom>
          <a:noFill/>
          <a:ln/>
        </p:spPr>
        <p:txBody>
          <a:bodyPr wrap="square" lIns="0" tIns="0" rIns="0" bIns="0" rtlCol="0" anchor="t"/>
          <a:lstStyle/>
          <a:p>
            <a:pPr indent="0" marL="0">
              <a:buNone/>
            </a:pPr>
            <a:r>
              <a:rPr lang="en-US" sz="1400" i="1" dirty="0">
                <a:solidFill>
                  <a:srgbClr val="F4EFE4"/>
                </a:solidFill>
                <a:latin typeface="Cambria" pitchFamily="34" charset="0"/>
                <a:ea typeface="Cambria" pitchFamily="34" charset="-122"/>
                <a:cs typeface="Cambria" pitchFamily="34" charset="-120"/>
              </a:rPr>
              <a:t>La référence.</a:t>
            </a:r>
            <a:endParaRPr lang="en-US" sz="1400" dirty="0"/>
          </a:p>
        </p:txBody>
      </p:sp>
      <p:sp>
        <p:nvSpPr>
          <p:cNvPr id="12" name="Text 9"/>
          <p:cNvSpPr txBox="1"/>
          <p:nvPr/>
        </p:nvSpPr>
        <p:spPr>
          <a:xfrm>
            <a:off x="777240" y="4480560"/>
            <a:ext cx="2110664" cy="146304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Le droit en vigueur, minima et majorations compris, recalculé règle par règle sur la même carrière.</a:t>
            </a:r>
            <a:endParaRPr lang="en-US" sz="1200" dirty="0"/>
          </a:p>
        </p:txBody>
      </p:sp>
      <p:sp>
        <p:nvSpPr>
          <p:cNvPr id="13" name="Shape 10"/>
          <p:cNvSpPr/>
          <p:nvPr/>
        </p:nvSpPr>
        <p:spPr>
          <a:xfrm>
            <a:off x="3390824" y="1600200"/>
            <a:ext cx="2567864" cy="4480560"/>
          </a:xfrm>
          <a:prstGeom prst="rect">
            <a:avLst/>
          </a:prstGeom>
          <a:solidFill>
            <a:srgbClr val="0F4A46"/>
          </a:solidFill>
          <a:ln w="9525">
            <a:solidFill>
              <a:srgbClr val="2F6360"/>
            </a:solidFill>
            <a:prstDash val="solid"/>
          </a:ln>
        </p:spPr>
      </p:sp>
      <p:sp>
        <p:nvSpPr>
          <p:cNvPr id="14" name="Shape 11"/>
          <p:cNvSpPr/>
          <p:nvPr/>
        </p:nvSpPr>
        <p:spPr>
          <a:xfrm>
            <a:off x="3619424" y="1828800"/>
            <a:ext cx="502920" cy="502920"/>
          </a:xfrm>
          <a:prstGeom prst="ellipse">
            <a:avLst/>
          </a:prstGeom>
          <a:solidFill>
            <a:srgbClr val="57E7FE"/>
          </a:solidFill>
          <a:ln w="12700">
            <a:solidFill>
              <a:srgbClr val="57E7FE"/>
            </a:solidFill>
            <a:prstDash val="solid"/>
          </a:ln>
        </p:spPr>
      </p:sp>
      <p:sp>
        <p:nvSpPr>
          <p:cNvPr id="15" name="Text 12"/>
          <p:cNvSpPr txBox="1"/>
          <p:nvPr/>
        </p:nvSpPr>
        <p:spPr>
          <a:xfrm>
            <a:off x="3619424" y="1828800"/>
            <a:ext cx="502920" cy="502920"/>
          </a:xfrm>
          <a:prstGeom prst="rect">
            <a:avLst/>
          </a:prstGeom>
          <a:noFill/>
          <a:ln/>
        </p:spPr>
        <p:txBody>
          <a:bodyPr wrap="square" lIns="0" tIns="0" rIns="0" bIns="0" rtlCol="0" anchor="ctr"/>
          <a:lstStyle/>
          <a:p>
            <a:pPr algn="ctr" indent="0" marL="0">
              <a:buNone/>
            </a:pPr>
            <a:r>
              <a:rPr lang="en-US" sz="1800" b="1" dirty="0">
                <a:solidFill>
                  <a:srgbClr val="0B3D3A"/>
                </a:solidFill>
                <a:latin typeface="Arial" pitchFamily="34" charset="0"/>
                <a:ea typeface="Arial" pitchFamily="34" charset="-122"/>
                <a:cs typeface="Arial" pitchFamily="34" charset="-120"/>
              </a:rPr>
              <a:t>2</a:t>
            </a:r>
            <a:endParaRPr lang="en-US" sz="1800" dirty="0"/>
          </a:p>
        </p:txBody>
      </p:sp>
      <p:sp>
        <p:nvSpPr>
          <p:cNvPr id="16" name="Text 13"/>
          <p:cNvSpPr txBox="1"/>
          <p:nvPr/>
        </p:nvSpPr>
        <p:spPr>
          <a:xfrm>
            <a:off x="3619424" y="2468880"/>
            <a:ext cx="2110664" cy="640080"/>
          </a:xfrm>
          <a:prstGeom prst="rect">
            <a:avLst/>
          </a:prstGeom>
          <a:noFill/>
          <a:ln/>
        </p:spPr>
        <p:txBody>
          <a:bodyPr wrap="square" lIns="0" tIns="0" rIns="0" bIns="0" rtlCol="0" anchor="ctr"/>
          <a:lstStyle/>
          <a:p>
            <a:pPr indent="0" marL="0">
              <a:buNone/>
            </a:pPr>
            <a:r>
              <a:rPr lang="en-US" sz="3000" b="1" dirty="0">
                <a:solidFill>
                  <a:srgbClr val="F4EFE4"/>
                </a:solidFill>
                <a:latin typeface="Arial" pitchFamily="34" charset="0"/>
                <a:ea typeface="Arial" pitchFamily="34" charset="-122"/>
                <a:cs typeface="Arial" pitchFamily="34" charset="-120"/>
              </a:rPr>
              <a:t>775 €</a:t>
            </a:r>
            <a:endParaRPr lang="en-US" sz="3000" dirty="0"/>
          </a:p>
        </p:txBody>
      </p:sp>
      <p:sp>
        <p:nvSpPr>
          <p:cNvPr id="17" name="Text 14"/>
          <p:cNvSpPr txBox="1"/>
          <p:nvPr/>
        </p:nvSpPr>
        <p:spPr>
          <a:xfrm>
            <a:off x="3619424" y="3081528"/>
            <a:ext cx="2110664" cy="274320"/>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net par mois</a:t>
            </a:r>
            <a:endParaRPr lang="en-US" sz="1100" dirty="0"/>
          </a:p>
        </p:txBody>
      </p:sp>
      <p:sp>
        <p:nvSpPr>
          <p:cNvPr id="18" name="Text 15"/>
          <p:cNvSpPr txBox="1"/>
          <p:nvPr/>
        </p:nvSpPr>
        <p:spPr>
          <a:xfrm>
            <a:off x="3619424" y="3474720"/>
            <a:ext cx="2110664" cy="365760"/>
          </a:xfrm>
          <a:prstGeom prst="rect">
            <a:avLst/>
          </a:prstGeom>
          <a:noFill/>
          <a:ln/>
        </p:spPr>
        <p:txBody>
          <a:bodyPr wrap="square" lIns="0" tIns="0" rIns="0" bIns="0" rtlCol="0" anchor="ctr"/>
          <a:lstStyle/>
          <a:p>
            <a:pPr indent="0" marL="0">
              <a:buNone/>
            </a:pPr>
            <a:r>
              <a:rPr lang="en-US" sz="1400" b="1" dirty="0">
                <a:solidFill>
                  <a:srgbClr val="E9C53D"/>
                </a:solidFill>
                <a:latin typeface="Arial" pitchFamily="34" charset="0"/>
                <a:ea typeface="Arial" pitchFamily="34" charset="-122"/>
                <a:cs typeface="Arial" pitchFamily="34" charset="-120"/>
              </a:rPr>
              <a:t>Part salariale</a:t>
            </a:r>
            <a:endParaRPr lang="en-US" sz="1400" dirty="0"/>
          </a:p>
        </p:txBody>
      </p:sp>
      <p:sp>
        <p:nvSpPr>
          <p:cNvPr id="19" name="Text 16"/>
          <p:cNvSpPr txBox="1"/>
          <p:nvPr/>
        </p:nvSpPr>
        <p:spPr>
          <a:xfrm>
            <a:off x="3619424" y="3886200"/>
            <a:ext cx="2110664" cy="594360"/>
          </a:xfrm>
          <a:prstGeom prst="rect">
            <a:avLst/>
          </a:prstGeom>
          <a:noFill/>
          <a:ln/>
        </p:spPr>
        <p:txBody>
          <a:bodyPr wrap="square" lIns="0" tIns="0" rIns="0" bIns="0" rtlCol="0" anchor="t"/>
          <a:lstStyle/>
          <a:p>
            <a:pPr indent="0" marL="0">
              <a:buNone/>
            </a:pPr>
            <a:r>
              <a:rPr lang="en-US" sz="1400" i="1" dirty="0">
                <a:solidFill>
                  <a:srgbClr val="F4EFE4"/>
                </a:solidFill>
                <a:latin typeface="Cambria" pitchFamily="34" charset="0"/>
                <a:ea typeface="Cambria" pitchFamily="34" charset="-122"/>
                <a:cs typeface="Cambria" pitchFamily="34" charset="-120"/>
              </a:rPr>
              <a:t>Un contrefactuel, pas une proposition.</a:t>
            </a:r>
            <a:endParaRPr lang="en-US" sz="1400" dirty="0"/>
          </a:p>
        </p:txBody>
      </p:sp>
      <p:sp>
        <p:nvSpPr>
          <p:cNvPr id="20" name="Text 17"/>
          <p:cNvSpPr txBox="1"/>
          <p:nvPr/>
        </p:nvSpPr>
        <p:spPr>
          <a:xfrm>
            <a:off x="3619424" y="4480560"/>
            <a:ext cx="2110664" cy="146304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La carrière recalculée depuis 1941 sur les 11,3 % que le salarié a payés lui-même.</a:t>
            </a:r>
            <a:endParaRPr lang="en-US" sz="1200" dirty="0"/>
          </a:p>
        </p:txBody>
      </p:sp>
      <p:sp>
        <p:nvSpPr>
          <p:cNvPr id="21" name="Shape 18"/>
          <p:cNvSpPr/>
          <p:nvPr/>
        </p:nvSpPr>
        <p:spPr>
          <a:xfrm>
            <a:off x="6233008" y="1600200"/>
            <a:ext cx="2567864" cy="4480560"/>
          </a:xfrm>
          <a:prstGeom prst="rect">
            <a:avLst/>
          </a:prstGeom>
          <a:solidFill>
            <a:srgbClr val="0F4A46"/>
          </a:solidFill>
          <a:ln w="9525">
            <a:solidFill>
              <a:srgbClr val="2F6360"/>
            </a:solidFill>
            <a:prstDash val="solid"/>
          </a:ln>
        </p:spPr>
      </p:sp>
      <p:sp>
        <p:nvSpPr>
          <p:cNvPr id="22" name="Shape 19"/>
          <p:cNvSpPr/>
          <p:nvPr/>
        </p:nvSpPr>
        <p:spPr>
          <a:xfrm>
            <a:off x="6461608" y="1828800"/>
            <a:ext cx="502920" cy="502920"/>
          </a:xfrm>
          <a:prstGeom prst="ellipse">
            <a:avLst/>
          </a:prstGeom>
          <a:solidFill>
            <a:srgbClr val="E98B97"/>
          </a:solidFill>
          <a:ln w="12700">
            <a:solidFill>
              <a:srgbClr val="E98B97"/>
            </a:solidFill>
            <a:prstDash val="solid"/>
          </a:ln>
        </p:spPr>
      </p:sp>
      <p:sp>
        <p:nvSpPr>
          <p:cNvPr id="23" name="Text 20"/>
          <p:cNvSpPr txBox="1"/>
          <p:nvPr/>
        </p:nvSpPr>
        <p:spPr>
          <a:xfrm>
            <a:off x="6461608" y="1828800"/>
            <a:ext cx="502920" cy="502920"/>
          </a:xfrm>
          <a:prstGeom prst="rect">
            <a:avLst/>
          </a:prstGeom>
          <a:noFill/>
          <a:ln/>
        </p:spPr>
        <p:txBody>
          <a:bodyPr wrap="square" lIns="0" tIns="0" rIns="0" bIns="0" rtlCol="0" anchor="ctr"/>
          <a:lstStyle/>
          <a:p>
            <a:pPr algn="ctr" indent="0" marL="0">
              <a:buNone/>
            </a:pPr>
            <a:r>
              <a:rPr lang="en-US" sz="1800" b="1" dirty="0">
                <a:solidFill>
                  <a:srgbClr val="0B3D3A"/>
                </a:solidFill>
                <a:latin typeface="Arial" pitchFamily="34" charset="0"/>
                <a:ea typeface="Arial" pitchFamily="34" charset="-122"/>
                <a:cs typeface="Arial" pitchFamily="34" charset="-120"/>
              </a:rPr>
              <a:t>3</a:t>
            </a:r>
            <a:endParaRPr lang="en-US" sz="1800" dirty="0"/>
          </a:p>
        </p:txBody>
      </p:sp>
      <p:sp>
        <p:nvSpPr>
          <p:cNvPr id="24" name="Text 21"/>
          <p:cNvSpPr txBox="1"/>
          <p:nvPr/>
        </p:nvSpPr>
        <p:spPr>
          <a:xfrm>
            <a:off x="6461608" y="2468880"/>
            <a:ext cx="2110664" cy="640080"/>
          </a:xfrm>
          <a:prstGeom prst="rect">
            <a:avLst/>
          </a:prstGeom>
          <a:noFill/>
          <a:ln/>
        </p:spPr>
        <p:txBody>
          <a:bodyPr wrap="square" lIns="0" tIns="0" rIns="0" bIns="0" rtlCol="0" anchor="ctr"/>
          <a:lstStyle/>
          <a:p>
            <a:pPr indent="0" marL="0">
              <a:buNone/>
            </a:pPr>
            <a:r>
              <a:rPr lang="en-US" sz="3000" b="1" dirty="0">
                <a:solidFill>
                  <a:srgbClr val="F4EFE4"/>
                </a:solidFill>
                <a:latin typeface="Arial" pitchFamily="34" charset="0"/>
                <a:ea typeface="Arial" pitchFamily="34" charset="-122"/>
                <a:cs typeface="Arial" pitchFamily="34" charset="-120"/>
              </a:rPr>
              <a:t>1 926 €</a:t>
            </a:r>
            <a:endParaRPr lang="en-US" sz="3000" dirty="0"/>
          </a:p>
        </p:txBody>
      </p:sp>
      <p:sp>
        <p:nvSpPr>
          <p:cNvPr id="25" name="Text 22"/>
          <p:cNvSpPr txBox="1"/>
          <p:nvPr/>
        </p:nvSpPr>
        <p:spPr>
          <a:xfrm>
            <a:off x="6461608" y="3081528"/>
            <a:ext cx="2110664" cy="274320"/>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net par mois</a:t>
            </a:r>
            <a:endParaRPr lang="en-US" sz="1100" dirty="0"/>
          </a:p>
        </p:txBody>
      </p:sp>
      <p:sp>
        <p:nvSpPr>
          <p:cNvPr id="26" name="Text 23"/>
          <p:cNvSpPr txBox="1"/>
          <p:nvPr/>
        </p:nvSpPr>
        <p:spPr>
          <a:xfrm>
            <a:off x="6461608" y="3474720"/>
            <a:ext cx="2110664" cy="365760"/>
          </a:xfrm>
          <a:prstGeom prst="rect">
            <a:avLst/>
          </a:prstGeom>
          <a:noFill/>
          <a:ln/>
        </p:spPr>
        <p:txBody>
          <a:bodyPr wrap="square" lIns="0" tIns="0" rIns="0" bIns="0" rtlCol="0" anchor="ctr"/>
          <a:lstStyle/>
          <a:p>
            <a:pPr indent="0" marL="0">
              <a:buNone/>
            </a:pPr>
            <a:r>
              <a:rPr lang="en-US" sz="1400" b="1" dirty="0">
                <a:solidFill>
                  <a:srgbClr val="E9C53D"/>
                </a:solidFill>
                <a:latin typeface="Arial" pitchFamily="34" charset="0"/>
                <a:ea typeface="Arial" pitchFamily="34" charset="-122"/>
                <a:cs typeface="Arial" pitchFamily="34" charset="-120"/>
              </a:rPr>
              <a:t>Les deux parts</a:t>
            </a:r>
            <a:endParaRPr lang="en-US" sz="1400" dirty="0"/>
          </a:p>
        </p:txBody>
      </p:sp>
      <p:sp>
        <p:nvSpPr>
          <p:cNvPr id="27" name="Text 24"/>
          <p:cNvSpPr txBox="1"/>
          <p:nvPr/>
        </p:nvSpPr>
        <p:spPr>
          <a:xfrm>
            <a:off x="6461608" y="3886200"/>
            <a:ext cx="2110664" cy="594360"/>
          </a:xfrm>
          <a:prstGeom prst="rect">
            <a:avLst/>
          </a:prstGeom>
          <a:noFill/>
          <a:ln/>
        </p:spPr>
        <p:txBody>
          <a:bodyPr wrap="square" lIns="0" tIns="0" rIns="0" bIns="0" rtlCol="0" anchor="t"/>
          <a:lstStyle/>
          <a:p>
            <a:pPr indent="0" marL="0">
              <a:buNone/>
            </a:pPr>
            <a:r>
              <a:rPr lang="en-US" sz="1400" i="1" dirty="0">
                <a:solidFill>
                  <a:srgbClr val="F4EFE4"/>
                </a:solidFill>
                <a:latin typeface="Cambria" pitchFamily="34" charset="0"/>
                <a:ea typeface="Cambria" pitchFamily="34" charset="-122"/>
                <a:cs typeface="Cambria" pitchFamily="34" charset="-120"/>
              </a:rPr>
              <a:t>Un contrefactuel, pas une proposition.</a:t>
            </a:r>
            <a:endParaRPr lang="en-US" sz="1400" dirty="0"/>
          </a:p>
        </p:txBody>
      </p:sp>
      <p:sp>
        <p:nvSpPr>
          <p:cNvPr id="28" name="Text 25"/>
          <p:cNvSpPr txBox="1"/>
          <p:nvPr/>
        </p:nvSpPr>
        <p:spPr>
          <a:xfrm>
            <a:off x="6461608" y="4480560"/>
            <a:ext cx="2110664" cy="146304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La même chose avec la part de l'employeur : les 28 % prélevés aujourd'hui. L'écart entre 2 et 3, c'est l'employeur.</a:t>
            </a:r>
            <a:endParaRPr lang="en-US" sz="1200" dirty="0"/>
          </a:p>
        </p:txBody>
      </p:sp>
      <p:sp>
        <p:nvSpPr>
          <p:cNvPr id="29" name="Shape 26"/>
          <p:cNvSpPr/>
          <p:nvPr/>
        </p:nvSpPr>
        <p:spPr>
          <a:xfrm>
            <a:off x="9075191" y="1600200"/>
            <a:ext cx="2567864" cy="4480560"/>
          </a:xfrm>
          <a:prstGeom prst="rect">
            <a:avLst/>
          </a:prstGeom>
          <a:solidFill>
            <a:srgbClr val="0F4A46"/>
          </a:solidFill>
          <a:ln w="9525">
            <a:solidFill>
              <a:srgbClr val="2F6360"/>
            </a:solidFill>
            <a:prstDash val="solid"/>
          </a:ln>
        </p:spPr>
      </p:sp>
      <p:sp>
        <p:nvSpPr>
          <p:cNvPr id="30" name="Shape 27"/>
          <p:cNvSpPr/>
          <p:nvPr/>
        </p:nvSpPr>
        <p:spPr>
          <a:xfrm>
            <a:off x="9303791" y="1828800"/>
            <a:ext cx="502920" cy="502920"/>
          </a:xfrm>
          <a:prstGeom prst="ellipse">
            <a:avLst/>
          </a:prstGeom>
          <a:solidFill>
            <a:srgbClr val="E9C53D"/>
          </a:solidFill>
          <a:ln w="12700">
            <a:solidFill>
              <a:srgbClr val="E9C53D"/>
            </a:solidFill>
            <a:prstDash val="solid"/>
          </a:ln>
        </p:spPr>
      </p:sp>
      <p:sp>
        <p:nvSpPr>
          <p:cNvPr id="31" name="Text 28"/>
          <p:cNvSpPr txBox="1"/>
          <p:nvPr/>
        </p:nvSpPr>
        <p:spPr>
          <a:xfrm>
            <a:off x="9303791" y="1828800"/>
            <a:ext cx="502920" cy="502920"/>
          </a:xfrm>
          <a:prstGeom prst="rect">
            <a:avLst/>
          </a:prstGeom>
          <a:noFill/>
          <a:ln/>
        </p:spPr>
        <p:txBody>
          <a:bodyPr wrap="square" lIns="0" tIns="0" rIns="0" bIns="0" rtlCol="0" anchor="ctr"/>
          <a:lstStyle/>
          <a:p>
            <a:pPr algn="ctr" indent="0" marL="0">
              <a:buNone/>
            </a:pPr>
            <a:r>
              <a:rPr lang="en-US" sz="1800" b="1" dirty="0">
                <a:solidFill>
                  <a:srgbClr val="0B3D3A"/>
                </a:solidFill>
                <a:latin typeface="Arial" pitchFamily="34" charset="0"/>
                <a:ea typeface="Arial" pitchFamily="34" charset="-122"/>
                <a:cs typeface="Arial" pitchFamily="34" charset="-120"/>
              </a:rPr>
              <a:t>4</a:t>
            </a:r>
            <a:endParaRPr lang="en-US" sz="1800" dirty="0"/>
          </a:p>
        </p:txBody>
      </p:sp>
      <p:sp>
        <p:nvSpPr>
          <p:cNvPr id="32" name="Text 29"/>
          <p:cNvSpPr txBox="1"/>
          <p:nvPr/>
        </p:nvSpPr>
        <p:spPr>
          <a:xfrm>
            <a:off x="9303791" y="2468880"/>
            <a:ext cx="2110664" cy="640080"/>
          </a:xfrm>
          <a:prstGeom prst="rect">
            <a:avLst/>
          </a:prstGeom>
          <a:noFill/>
          <a:ln/>
        </p:spPr>
        <p:txBody>
          <a:bodyPr wrap="square" lIns="0" tIns="0" rIns="0" bIns="0" rtlCol="0" anchor="ctr"/>
          <a:lstStyle/>
          <a:p>
            <a:pPr indent="0" marL="0">
              <a:buNone/>
            </a:pPr>
            <a:r>
              <a:rPr lang="en-US" sz="3000" b="1" dirty="0">
                <a:solidFill>
                  <a:srgbClr val="F4EFE4"/>
                </a:solidFill>
                <a:latin typeface="Arial" pitchFamily="34" charset="0"/>
                <a:ea typeface="Arial" pitchFamily="34" charset="-122"/>
                <a:cs typeface="Arial" pitchFamily="34" charset="-120"/>
              </a:rPr>
              <a:t>1 975 €</a:t>
            </a:r>
            <a:endParaRPr lang="en-US" sz="3000" dirty="0"/>
          </a:p>
        </p:txBody>
      </p:sp>
      <p:sp>
        <p:nvSpPr>
          <p:cNvPr id="33" name="Text 30"/>
          <p:cNvSpPr txBox="1"/>
          <p:nvPr/>
        </p:nvSpPr>
        <p:spPr>
          <a:xfrm>
            <a:off x="9303791" y="3081528"/>
            <a:ext cx="2110664" cy="274320"/>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net par mois</a:t>
            </a:r>
            <a:endParaRPr lang="en-US" sz="1100" dirty="0"/>
          </a:p>
        </p:txBody>
      </p:sp>
      <p:sp>
        <p:nvSpPr>
          <p:cNvPr id="34" name="Text 31"/>
          <p:cNvSpPr txBox="1"/>
          <p:nvPr/>
        </p:nvSpPr>
        <p:spPr>
          <a:xfrm>
            <a:off x="9303791" y="3474720"/>
            <a:ext cx="2110664" cy="365760"/>
          </a:xfrm>
          <a:prstGeom prst="rect">
            <a:avLst/>
          </a:prstGeom>
          <a:noFill/>
          <a:ln/>
        </p:spPr>
        <p:txBody>
          <a:bodyPr wrap="square" lIns="0" tIns="0" rIns="0" bIns="0" rtlCol="0" anchor="ctr"/>
          <a:lstStyle/>
          <a:p>
            <a:pPr indent="0" marL="0">
              <a:buNone/>
            </a:pPr>
            <a:r>
              <a:rPr lang="en-US" sz="1400" b="1" dirty="0">
                <a:solidFill>
                  <a:srgbClr val="E9C53D"/>
                </a:solidFill>
                <a:latin typeface="Arial" pitchFamily="34" charset="0"/>
                <a:ea typeface="Arial" pitchFamily="34" charset="-122"/>
                <a:cs typeface="Arial" pitchFamily="34" charset="-120"/>
              </a:rPr>
              <a:t>La proposition</a:t>
            </a:r>
            <a:endParaRPr lang="en-US" sz="1400" dirty="0"/>
          </a:p>
        </p:txBody>
      </p:sp>
      <p:sp>
        <p:nvSpPr>
          <p:cNvPr id="35" name="Text 32"/>
          <p:cNvSpPr txBox="1"/>
          <p:nvPr/>
        </p:nvSpPr>
        <p:spPr>
          <a:xfrm>
            <a:off x="9303791" y="3886200"/>
            <a:ext cx="2110664" cy="594360"/>
          </a:xfrm>
          <a:prstGeom prst="rect">
            <a:avLst/>
          </a:prstGeom>
          <a:noFill/>
          <a:ln/>
        </p:spPr>
        <p:txBody>
          <a:bodyPr wrap="square" lIns="0" tIns="0" rIns="0" bIns="0" rtlCol="0" anchor="t"/>
          <a:lstStyle/>
          <a:p>
            <a:pPr indent="0" marL="0">
              <a:buNone/>
            </a:pPr>
            <a:r>
              <a:rPr lang="en-US" sz="1400" i="1" dirty="0">
                <a:solidFill>
                  <a:srgbClr val="F4EFE4"/>
                </a:solidFill>
                <a:latin typeface="Cambria" pitchFamily="34" charset="0"/>
                <a:ea typeface="Cambria" pitchFamily="34" charset="-122"/>
                <a:cs typeface="Cambria" pitchFamily="34" charset="-120"/>
              </a:rPr>
              <a:t>Se lit contre le 3.</a:t>
            </a:r>
            <a:endParaRPr lang="en-US" sz="1400" dirty="0"/>
          </a:p>
        </p:txBody>
      </p:sp>
      <p:sp>
        <p:nvSpPr>
          <p:cNvPr id="36" name="Text 33"/>
          <p:cNvSpPr txBox="1"/>
          <p:nvPr/>
        </p:nvSpPr>
        <p:spPr>
          <a:xfrm>
            <a:off x="9303791" y="4480560"/>
            <a:ext cx="2110664" cy="146304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Le même compte jusqu'à 2026, puis 18 % pour tous, 5 % capitalisés, 5 % rendus et replacés, et la garantie vieillesse.</a:t>
            </a:r>
            <a:endParaRPr lang="en-US" sz="1200" dirty="0"/>
          </a:p>
        </p:txBody>
      </p:sp>
      <p:sp>
        <p:nvSpPr>
          <p:cNvPr id="37" name="Text 34"/>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38" name="Text 3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 SIMULATEUR</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ET PENDANT QUE VOUS COTISEZ</a:t>
            </a:r>
            <a:endParaRPr lang="en-US" sz="3000" dirty="0"/>
          </a:p>
        </p:txBody>
      </p:sp>
      <p:sp>
        <p:nvSpPr>
          <p:cNvPr id="5" name="Text 2"/>
          <p:cNvSpPr txBox="1"/>
          <p:nvPr/>
        </p:nvSpPr>
        <p:spPr>
          <a:xfrm>
            <a:off x="548640" y="1463040"/>
            <a:ext cx="11094415" cy="640080"/>
          </a:xfrm>
          <a:prstGeom prst="rect">
            <a:avLst/>
          </a:prstGeom>
          <a:noFill/>
          <a:ln/>
        </p:spPr>
        <p:txBody>
          <a:bodyPr wrap="square" lIns="0" tIns="0" rIns="0" bIns="0" rtlCol="0" anchor="ctr"/>
          <a:lstStyle/>
          <a:p>
            <a:pPr indent="0" marL="0">
              <a:buNone/>
            </a:pPr>
            <a:r>
              <a:rPr lang="en-US" sz="1800" dirty="0">
                <a:solidFill>
                  <a:srgbClr val="C3D8D4"/>
                </a:solidFill>
                <a:latin typeface="Cambria" pitchFamily="34" charset="0"/>
                <a:ea typeface="Cambria" pitchFamily="34" charset="-122"/>
                <a:cs typeface="Cambria" pitchFamily="34" charset="-120"/>
              </a:rPr>
              <a:t>Une réforme des retraites ne change pas que votre pension : elle change ce qui est prélevé sur votre travail, donc ce que vous touchez chaque mois.</a:t>
            </a:r>
            <a:endParaRPr lang="en-US" sz="1800" dirty="0"/>
          </a:p>
        </p:txBody>
      </p:sp>
      <p:sp>
        <p:nvSpPr>
          <p:cNvPr id="6" name="Shape 3"/>
          <p:cNvSpPr/>
          <p:nvPr/>
        </p:nvSpPr>
        <p:spPr>
          <a:xfrm>
            <a:off x="548640" y="2377440"/>
            <a:ext cx="3515258" cy="1600200"/>
          </a:xfrm>
          <a:prstGeom prst="rect">
            <a:avLst/>
          </a:prstGeom>
          <a:solidFill>
            <a:srgbClr val="0F4A46"/>
          </a:solidFill>
          <a:ln w="9525">
            <a:solidFill>
              <a:srgbClr val="2F6360"/>
            </a:solidFill>
            <a:prstDash val="solid"/>
          </a:ln>
        </p:spPr>
      </p:sp>
      <p:sp>
        <p:nvSpPr>
          <p:cNvPr id="7" name="Text 4"/>
          <p:cNvSpPr txBox="1"/>
          <p:nvPr/>
        </p:nvSpPr>
        <p:spPr>
          <a:xfrm>
            <a:off x="731520" y="251460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3 840 €</a:t>
            </a:r>
            <a:endParaRPr lang="en-US" sz="3600" dirty="0"/>
          </a:p>
        </p:txBody>
      </p:sp>
      <p:sp>
        <p:nvSpPr>
          <p:cNvPr id="8" name="Text 5"/>
          <p:cNvSpPr txBox="1"/>
          <p:nvPr/>
        </p:nvSpPr>
        <p:spPr>
          <a:xfrm>
            <a:off x="731520" y="324612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VOTRE SALAIRE NET EN 2026</a:t>
            </a:r>
            <a:endParaRPr lang="en-US" sz="1100" dirty="0"/>
          </a:p>
        </p:txBody>
      </p:sp>
      <p:sp>
        <p:nvSpPr>
          <p:cNvPr id="9" name="Text 6"/>
          <p:cNvSpPr txBox="1"/>
          <p:nvPr/>
        </p:nvSpPr>
        <p:spPr>
          <a:xfrm>
            <a:off x="731520" y="354787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sous les systèmes 1, 2 et 3</a:t>
            </a:r>
            <a:endParaRPr lang="en-US" sz="1200" dirty="0"/>
          </a:p>
        </p:txBody>
      </p:sp>
      <p:sp>
        <p:nvSpPr>
          <p:cNvPr id="10" name="Shape 7"/>
          <p:cNvSpPr/>
          <p:nvPr/>
        </p:nvSpPr>
        <p:spPr>
          <a:xfrm>
            <a:off x="4338218" y="2377440"/>
            <a:ext cx="3515258" cy="1600200"/>
          </a:xfrm>
          <a:prstGeom prst="rect">
            <a:avLst/>
          </a:prstGeom>
          <a:solidFill>
            <a:srgbClr val="0F4A46"/>
          </a:solidFill>
          <a:ln w="9525">
            <a:solidFill>
              <a:srgbClr val="2F6360"/>
            </a:solidFill>
            <a:prstDash val="solid"/>
          </a:ln>
        </p:spPr>
      </p:sp>
      <p:sp>
        <p:nvSpPr>
          <p:cNvPr id="11" name="Text 8"/>
          <p:cNvSpPr txBox="1"/>
          <p:nvPr/>
        </p:nvSpPr>
        <p:spPr>
          <a:xfrm>
            <a:off x="4521098" y="251460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3 723 €</a:t>
            </a:r>
            <a:endParaRPr lang="en-US" sz="3600" dirty="0"/>
          </a:p>
        </p:txBody>
      </p:sp>
      <p:sp>
        <p:nvSpPr>
          <p:cNvPr id="12" name="Text 9"/>
          <p:cNvSpPr txBox="1"/>
          <p:nvPr/>
        </p:nvSpPr>
        <p:spPr>
          <a:xfrm>
            <a:off x="4521098" y="324612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AVEC LE SYSTÈME 4</a:t>
            </a:r>
            <a:endParaRPr lang="en-US" sz="1100" dirty="0"/>
          </a:p>
        </p:txBody>
      </p:sp>
      <p:sp>
        <p:nvSpPr>
          <p:cNvPr id="13" name="Text 10"/>
          <p:cNvSpPr txBox="1"/>
          <p:nvPr/>
        </p:nvSpPr>
        <p:spPr>
          <a:xfrm>
            <a:off x="4521098" y="354787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en versant les 5 % volontaires</a:t>
            </a:r>
            <a:endParaRPr lang="en-US" sz="1200" dirty="0"/>
          </a:p>
        </p:txBody>
      </p:sp>
      <p:sp>
        <p:nvSpPr>
          <p:cNvPr id="14" name="Shape 11"/>
          <p:cNvSpPr/>
          <p:nvPr/>
        </p:nvSpPr>
        <p:spPr>
          <a:xfrm>
            <a:off x="8127797" y="2377440"/>
            <a:ext cx="3515258" cy="1600200"/>
          </a:xfrm>
          <a:prstGeom prst="rect">
            <a:avLst/>
          </a:prstGeom>
          <a:solidFill>
            <a:srgbClr val="0F4A46"/>
          </a:solidFill>
          <a:ln w="9525">
            <a:solidFill>
              <a:srgbClr val="2F6360"/>
            </a:solidFill>
            <a:prstDash val="solid"/>
          </a:ln>
        </p:spPr>
      </p:sp>
      <p:sp>
        <p:nvSpPr>
          <p:cNvPr id="15" name="Text 12"/>
          <p:cNvSpPr txBox="1"/>
          <p:nvPr/>
        </p:nvSpPr>
        <p:spPr>
          <a:xfrm>
            <a:off x="8310677" y="251460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-117 €</a:t>
            </a:r>
            <a:endParaRPr lang="en-US" sz="3600" dirty="0"/>
          </a:p>
        </p:txBody>
      </p:sp>
      <p:sp>
        <p:nvSpPr>
          <p:cNvPr id="16" name="Text 13"/>
          <p:cNvSpPr txBox="1"/>
          <p:nvPr/>
        </p:nvSpPr>
        <p:spPr>
          <a:xfrm>
            <a:off x="8310677" y="324612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PAR MOIS SUR LA FICHE DE PAIE</a:t>
            </a:r>
            <a:endParaRPr lang="en-US" sz="1100" dirty="0"/>
          </a:p>
        </p:txBody>
      </p:sp>
      <p:sp>
        <p:nvSpPr>
          <p:cNvPr id="17" name="Text 14"/>
          <p:cNvSpPr txBox="1"/>
          <p:nvPr/>
        </p:nvSpPr>
        <p:spPr>
          <a:xfrm>
            <a:off x="8310677" y="354787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251,65 € partent sur un compte à votre nom</a:t>
            </a:r>
            <a:endParaRPr lang="en-US" sz="1200" dirty="0"/>
          </a:p>
        </p:txBody>
      </p:sp>
      <p:sp>
        <p:nvSpPr>
          <p:cNvPr id="18" name="Shape 15"/>
          <p:cNvSpPr/>
          <p:nvPr/>
        </p:nvSpPr>
        <p:spPr>
          <a:xfrm>
            <a:off x="548640" y="4343400"/>
            <a:ext cx="11094415" cy="1737360"/>
          </a:xfrm>
          <a:prstGeom prst="rect">
            <a:avLst/>
          </a:prstGeom>
          <a:solidFill>
            <a:srgbClr val="0F4A46"/>
          </a:solidFill>
          <a:ln w="9525">
            <a:solidFill>
              <a:srgbClr val="2F6360"/>
            </a:solidFill>
            <a:prstDash val="solid"/>
          </a:ln>
        </p:spPr>
      </p:sp>
      <p:sp>
        <p:nvSpPr>
          <p:cNvPr id="19" name="Text 16"/>
          <p:cNvSpPr txBox="1"/>
          <p:nvPr/>
        </p:nvSpPr>
        <p:spPr>
          <a:xfrm>
            <a:off x="822960" y="4526280"/>
            <a:ext cx="10545775" cy="1371600"/>
          </a:xfrm>
          <a:prstGeom prst="rect">
            <a:avLst/>
          </a:prstGeom>
          <a:noFill/>
          <a:ln/>
        </p:spPr>
        <p:txBody>
          <a:bodyPr wrap="square" lIns="0" tIns="0" rIns="0" bIns="0" rtlCol="0" anchor="t"/>
          <a:lstStyle/>
          <a:p>
            <a:pPr indent="0" marL="0">
              <a:buNone/>
            </a:pPr>
            <a:r>
              <a:rPr lang="en-US" sz="1600" b="1" dirty="0">
                <a:solidFill>
                  <a:srgbClr val="E9C53D"/>
                </a:solidFill>
                <a:latin typeface="Calibri" pitchFamily="34" charset="0"/>
                <a:ea typeface="Calibri" pitchFamily="34" charset="-122"/>
                <a:cs typeface="Calibri" pitchFamily="34" charset="-120"/>
              </a:rPr>
              <a:t>Sans les 5 % volontaires : </a:t>
            </a:r>
            <a:pPr indent="0" marL="0">
              <a:buNone/>
            </a:pPr>
            <a:r>
              <a:rPr lang="en-US" sz="1600" dirty="0">
                <a:solidFill>
                  <a:srgbClr val="C3D8D4"/>
                </a:solidFill>
                <a:latin typeface="Calibri" pitchFamily="34" charset="0"/>
                <a:ea typeface="Calibri" pitchFamily="34" charset="-122"/>
                <a:cs typeface="Calibri" pitchFamily="34" charset="-120"/>
              </a:rPr>
              <a:t>3 974 € net, soit </a:t>
            </a:r>
            <a:pPr indent="0" marL="0">
              <a:buNone/>
            </a:pPr>
            <a:r>
              <a:rPr lang="en-US" sz="1600" b="1" dirty="0">
                <a:solidFill>
                  <a:srgbClr val="F4EFE4"/>
                </a:solidFill>
                <a:latin typeface="Calibri" pitchFamily="34" charset="0"/>
                <a:ea typeface="Calibri" pitchFamily="34" charset="-122"/>
                <a:cs typeface="Calibri" pitchFamily="34" charset="-120"/>
              </a:rPr>
              <a:t>+134 € par mois</a:t>
            </a:r>
            <a:pPr indent="0" marL="0">
              <a:buNone/>
            </a:pPr>
            <a:r>
              <a:rPr lang="en-US" sz="1600" dirty="0">
                <a:solidFill>
                  <a:srgbClr val="C3D8D4"/>
                </a:solidFill>
                <a:latin typeface="Calibri" pitchFamily="34" charset="0"/>
                <a:ea typeface="Calibri" pitchFamily="34" charset="-122"/>
                <a:cs typeface="Calibri" pitchFamily="34" charset="-120"/>
              </a:rPr>
              <a:t>, et la rente du système 4 baisse d'autant. Le coût du travail ne change pas pour l'employeur : 18 + 5 font 23, contre 28 aujourd'hui. Les cinq points rendus sont libres ; le simulateur les suppose replacés pour comparer à effort égal.</a:t>
            </a:r>
            <a:endParaRPr lang="en-US" sz="1600" dirty="0"/>
          </a:p>
        </p:txBody>
      </p:sp>
      <p:sp>
        <p:nvSpPr>
          <p:cNvPr id="20" name="Text 1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21"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 SIMULATEUR</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TROIS CARRIÈRES, CALCULÉES SUR LE SITE</a:t>
            </a:r>
            <a:endParaRPr lang="en-US" sz="3000" dirty="0"/>
          </a:p>
        </p:txBody>
      </p:sp>
      <p:sp>
        <p:nvSpPr>
          <p:cNvPr id="5" name="Shape 2"/>
          <p:cNvSpPr/>
          <p:nvPr/>
        </p:nvSpPr>
        <p:spPr>
          <a:xfrm>
            <a:off x="548640" y="1554480"/>
            <a:ext cx="3515258" cy="4663440"/>
          </a:xfrm>
          <a:prstGeom prst="rect">
            <a:avLst/>
          </a:prstGeom>
          <a:solidFill>
            <a:srgbClr val="0F4A46"/>
          </a:solidFill>
          <a:ln w="9525">
            <a:solidFill>
              <a:srgbClr val="2F6360"/>
            </a:solidFill>
            <a:prstDash val="solid"/>
          </a:ln>
        </p:spPr>
      </p:sp>
      <p:sp>
        <p:nvSpPr>
          <p:cNvPr id="6" name="Text 3"/>
          <p:cNvSpPr txBox="1"/>
          <p:nvPr/>
        </p:nvSpPr>
        <p:spPr>
          <a:xfrm>
            <a:off x="777240" y="1737360"/>
            <a:ext cx="3058058" cy="41148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Au SMIC toute sa vie</a:t>
            </a:r>
            <a:endParaRPr lang="en-US" sz="1500" dirty="0"/>
          </a:p>
        </p:txBody>
      </p:sp>
      <p:sp>
        <p:nvSpPr>
          <p:cNvPr id="7" name="Text 4"/>
          <p:cNvSpPr txBox="1"/>
          <p:nvPr/>
        </p:nvSpPr>
        <p:spPr>
          <a:xfrm>
            <a:off x="777240" y="2176272"/>
            <a:ext cx="3058058" cy="73152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Salarié du privé non cadre depuis 1996, 1 443 € net. Départ à 64 ans en 2039.</a:t>
            </a:r>
            <a:endParaRPr lang="en-US" sz="1200" dirty="0"/>
          </a:p>
        </p:txBody>
      </p:sp>
      <p:sp>
        <p:nvSpPr>
          <p:cNvPr id="8" name="Text 5"/>
          <p:cNvSpPr txBox="1"/>
          <p:nvPr/>
        </p:nvSpPr>
        <p:spPr>
          <a:xfrm>
            <a:off x="777240" y="3017520"/>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1. Actuel</a:t>
            </a:r>
            <a:endParaRPr lang="en-US" sz="1100" dirty="0"/>
          </a:p>
        </p:txBody>
      </p:sp>
      <p:sp>
        <p:nvSpPr>
          <p:cNvPr id="9" name="Text 6"/>
          <p:cNvSpPr txBox="1"/>
          <p:nvPr/>
        </p:nvSpPr>
        <p:spPr>
          <a:xfrm>
            <a:off x="777240" y="3255264"/>
            <a:ext cx="1828800" cy="384048"/>
          </a:xfrm>
          <a:prstGeom prst="rect">
            <a:avLst/>
          </a:prstGeom>
          <a:noFill/>
          <a:ln/>
        </p:spPr>
        <p:txBody>
          <a:bodyPr wrap="square" lIns="0" tIns="0" rIns="0" bIns="0" rtlCol="0" anchor="ctr"/>
          <a:lstStyle/>
          <a:p>
            <a:pPr indent="0" marL="0">
              <a:buNone/>
            </a:pPr>
            <a:r>
              <a:rPr lang="en-US" sz="2200" b="1" dirty="0">
                <a:solidFill>
                  <a:srgbClr val="F4EFE4"/>
                </a:solidFill>
                <a:latin typeface="Arial" pitchFamily="34" charset="0"/>
                <a:ea typeface="Arial" pitchFamily="34" charset="-122"/>
                <a:cs typeface="Arial" pitchFamily="34" charset="-120"/>
              </a:rPr>
              <a:t>1 243 €</a:t>
            </a:r>
            <a:endParaRPr lang="en-US" sz="2200" dirty="0"/>
          </a:p>
        </p:txBody>
      </p:sp>
      <p:sp>
        <p:nvSpPr>
          <p:cNvPr id="10" name="Text 7"/>
          <p:cNvSpPr txBox="1"/>
          <p:nvPr/>
        </p:nvSpPr>
        <p:spPr>
          <a:xfrm>
            <a:off x="2555138" y="3255264"/>
            <a:ext cx="1280160" cy="384048"/>
          </a:xfrm>
          <a:prstGeom prst="rect">
            <a:avLst/>
          </a:prstGeom>
          <a:noFill/>
          <a:ln/>
        </p:spPr>
        <p:txBody>
          <a:bodyPr wrap="square" lIns="0" tIns="0" rIns="0" bIns="0" rtlCol="0" anchor="ctr"/>
          <a:lstStyle/>
          <a:p>
            <a:pPr algn="r" indent="0" marL="0">
              <a:buNone/>
            </a:pPr>
            <a:r>
              <a:rPr lang="en-US" sz="1400" b="1" dirty="0">
                <a:solidFill>
                  <a:srgbClr val="A7C3BF"/>
                </a:solidFill>
                <a:latin typeface="Calibri" pitchFamily="34" charset="0"/>
                <a:ea typeface="Calibri" pitchFamily="34" charset="-122"/>
                <a:cs typeface="Calibri" pitchFamily="34" charset="-120"/>
              </a:rPr>
              <a:t>référence</a:t>
            </a:r>
            <a:endParaRPr lang="en-US" sz="1400" dirty="0"/>
          </a:p>
        </p:txBody>
      </p:sp>
      <p:sp>
        <p:nvSpPr>
          <p:cNvPr id="11" name="Text 8"/>
          <p:cNvSpPr txBox="1"/>
          <p:nvPr/>
        </p:nvSpPr>
        <p:spPr>
          <a:xfrm>
            <a:off x="777240" y="3675888"/>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3. Notionnel, deux parts</a:t>
            </a:r>
            <a:endParaRPr lang="en-US" sz="1100" dirty="0"/>
          </a:p>
        </p:txBody>
      </p:sp>
      <p:sp>
        <p:nvSpPr>
          <p:cNvPr id="12" name="Text 9"/>
          <p:cNvSpPr txBox="1"/>
          <p:nvPr/>
        </p:nvSpPr>
        <p:spPr>
          <a:xfrm>
            <a:off x="777240" y="3913632"/>
            <a:ext cx="1828800" cy="384048"/>
          </a:xfrm>
          <a:prstGeom prst="rect">
            <a:avLst/>
          </a:prstGeom>
          <a:noFill/>
          <a:ln/>
        </p:spPr>
        <p:txBody>
          <a:bodyPr wrap="square" lIns="0" tIns="0" rIns="0" bIns="0" rtlCol="0" anchor="ctr"/>
          <a:lstStyle/>
          <a:p>
            <a:pPr indent="0" marL="0">
              <a:buNone/>
            </a:pPr>
            <a:r>
              <a:rPr lang="en-US" sz="2200" b="1" dirty="0">
                <a:solidFill>
                  <a:srgbClr val="F4EFE4"/>
                </a:solidFill>
                <a:latin typeface="Arial" pitchFamily="34" charset="0"/>
                <a:ea typeface="Arial" pitchFamily="34" charset="-122"/>
                <a:cs typeface="Arial" pitchFamily="34" charset="-120"/>
              </a:rPr>
              <a:t>970 €</a:t>
            </a:r>
            <a:endParaRPr lang="en-US" sz="2200" dirty="0"/>
          </a:p>
        </p:txBody>
      </p:sp>
      <p:sp>
        <p:nvSpPr>
          <p:cNvPr id="13" name="Text 10"/>
          <p:cNvSpPr txBox="1"/>
          <p:nvPr/>
        </p:nvSpPr>
        <p:spPr>
          <a:xfrm>
            <a:off x="2555138" y="3913632"/>
            <a:ext cx="1280160" cy="384048"/>
          </a:xfrm>
          <a:prstGeom prst="rect">
            <a:avLst/>
          </a:prstGeom>
          <a:noFill/>
          <a:ln/>
        </p:spPr>
        <p:txBody>
          <a:bodyPr wrap="square" lIns="0" tIns="0" rIns="0" bIns="0" rtlCol="0" anchor="ctr"/>
          <a:lstStyle/>
          <a:p>
            <a:pPr algn="r" indent="0" marL="0">
              <a:buNone/>
            </a:pPr>
            <a:r>
              <a:rPr lang="en-US" sz="1400" b="1" dirty="0">
                <a:solidFill>
                  <a:srgbClr val="E8807F"/>
                </a:solidFill>
                <a:latin typeface="Calibri" pitchFamily="34" charset="0"/>
                <a:ea typeface="Calibri" pitchFamily="34" charset="-122"/>
                <a:cs typeface="Calibri" pitchFamily="34" charset="-120"/>
              </a:rPr>
              <a:t>-22 %</a:t>
            </a:r>
            <a:endParaRPr lang="en-US" sz="1400" dirty="0"/>
          </a:p>
        </p:txBody>
      </p:sp>
      <p:sp>
        <p:nvSpPr>
          <p:cNvPr id="14" name="Text 11"/>
          <p:cNvSpPr txBox="1"/>
          <p:nvPr/>
        </p:nvSpPr>
        <p:spPr>
          <a:xfrm>
            <a:off x="777240" y="4334256"/>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4. La proposition</a:t>
            </a:r>
            <a:endParaRPr lang="en-US" sz="1100" dirty="0"/>
          </a:p>
        </p:txBody>
      </p:sp>
      <p:sp>
        <p:nvSpPr>
          <p:cNvPr id="15" name="Text 12"/>
          <p:cNvSpPr txBox="1"/>
          <p:nvPr/>
        </p:nvSpPr>
        <p:spPr>
          <a:xfrm>
            <a:off x="777240" y="4572000"/>
            <a:ext cx="1828800" cy="384048"/>
          </a:xfrm>
          <a:prstGeom prst="rect">
            <a:avLst/>
          </a:prstGeom>
          <a:noFill/>
          <a:ln/>
        </p:spPr>
        <p:txBody>
          <a:bodyPr wrap="square" lIns="0" tIns="0" rIns="0" bIns="0" rtlCol="0" anchor="ctr"/>
          <a:lstStyle/>
          <a:p>
            <a:pPr indent="0" marL="0">
              <a:buNone/>
            </a:pPr>
            <a:r>
              <a:rPr lang="en-US" sz="2200" b="1" dirty="0">
                <a:solidFill>
                  <a:srgbClr val="E9C53D"/>
                </a:solidFill>
                <a:latin typeface="Arial" pitchFamily="34" charset="0"/>
                <a:ea typeface="Arial" pitchFamily="34" charset="-122"/>
                <a:cs typeface="Arial" pitchFamily="34" charset="-120"/>
              </a:rPr>
              <a:t>995 €</a:t>
            </a:r>
            <a:endParaRPr lang="en-US" sz="2200" dirty="0"/>
          </a:p>
        </p:txBody>
      </p:sp>
      <p:sp>
        <p:nvSpPr>
          <p:cNvPr id="16" name="Text 13"/>
          <p:cNvSpPr txBox="1"/>
          <p:nvPr/>
        </p:nvSpPr>
        <p:spPr>
          <a:xfrm>
            <a:off x="2555138" y="4572000"/>
            <a:ext cx="1280160" cy="384048"/>
          </a:xfrm>
          <a:prstGeom prst="rect">
            <a:avLst/>
          </a:prstGeom>
          <a:noFill/>
          <a:ln/>
        </p:spPr>
        <p:txBody>
          <a:bodyPr wrap="square" lIns="0" tIns="0" rIns="0" bIns="0" rtlCol="0" anchor="ctr"/>
          <a:lstStyle/>
          <a:p>
            <a:pPr algn="r" indent="0" marL="0">
              <a:buNone/>
            </a:pPr>
            <a:r>
              <a:rPr lang="en-US" sz="1400" b="1" dirty="0">
                <a:solidFill>
                  <a:srgbClr val="E8807F"/>
                </a:solidFill>
                <a:latin typeface="Calibri" pitchFamily="34" charset="0"/>
                <a:ea typeface="Calibri" pitchFamily="34" charset="-122"/>
                <a:cs typeface="Calibri" pitchFamily="34" charset="-120"/>
              </a:rPr>
              <a:t>-20 %</a:t>
            </a:r>
            <a:endParaRPr lang="en-US" sz="1400" dirty="0"/>
          </a:p>
        </p:txBody>
      </p:sp>
      <p:sp>
        <p:nvSpPr>
          <p:cNvPr id="17" name="Text 14"/>
          <p:cNvSpPr txBox="1"/>
          <p:nvPr/>
        </p:nvSpPr>
        <p:spPr>
          <a:xfrm>
            <a:off x="777240" y="5120640"/>
            <a:ext cx="3058058" cy="960120"/>
          </a:xfrm>
          <a:prstGeom prst="rect">
            <a:avLst/>
          </a:prstGeom>
          <a:noFill/>
          <a:ln/>
        </p:spPr>
        <p:txBody>
          <a:bodyPr wrap="square" lIns="0" tIns="0" rIns="0" bIns="0" rtlCol="0" anchor="t"/>
          <a:lstStyle/>
          <a:p>
            <a:pPr indent="0" marL="0">
              <a:buNone/>
            </a:pPr>
            <a:r>
              <a:rPr lang="en-US" sz="1300" i="1" dirty="0">
                <a:solidFill>
                  <a:srgbClr val="F4EFE4"/>
                </a:solidFill>
                <a:latin typeface="Cambria" pitchFamily="34" charset="0"/>
                <a:ea typeface="Cambria" pitchFamily="34" charset="-122"/>
                <a:cs typeface="Cambria" pitchFamily="34" charset="-120"/>
              </a:rPr>
              <a:t>Le plancher, 1 050 € dès 65 ans, passe au-dessus.</a:t>
            </a:r>
            <a:endParaRPr lang="en-US" sz="1300" dirty="0"/>
          </a:p>
        </p:txBody>
      </p:sp>
      <p:sp>
        <p:nvSpPr>
          <p:cNvPr id="18" name="Shape 15"/>
          <p:cNvSpPr/>
          <p:nvPr/>
        </p:nvSpPr>
        <p:spPr>
          <a:xfrm>
            <a:off x="4338218" y="1554480"/>
            <a:ext cx="3515258" cy="4663440"/>
          </a:xfrm>
          <a:prstGeom prst="rect">
            <a:avLst/>
          </a:prstGeom>
          <a:solidFill>
            <a:srgbClr val="0F4A46"/>
          </a:solidFill>
          <a:ln w="9525">
            <a:solidFill>
              <a:srgbClr val="2F6360"/>
            </a:solidFill>
            <a:prstDash val="solid"/>
          </a:ln>
        </p:spPr>
      </p:sp>
      <p:sp>
        <p:nvSpPr>
          <p:cNvPr id="19" name="Text 16"/>
          <p:cNvSpPr txBox="1"/>
          <p:nvPr/>
        </p:nvSpPr>
        <p:spPr>
          <a:xfrm>
            <a:off x="4566818" y="1737360"/>
            <a:ext cx="3058058" cy="41148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Fonctionnaire de l'État</a:t>
            </a:r>
            <a:endParaRPr lang="en-US" sz="1500" dirty="0"/>
          </a:p>
        </p:txBody>
      </p:sp>
      <p:sp>
        <p:nvSpPr>
          <p:cNvPr id="20" name="Text 17"/>
          <p:cNvSpPr txBox="1"/>
          <p:nvPr/>
        </p:nvSpPr>
        <p:spPr>
          <a:xfrm>
            <a:off x="4566818" y="2176272"/>
            <a:ext cx="3058058" cy="73152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Titulaire depuis septembre 1998, 3 000 € net. Départ à 64 ans en 2039.</a:t>
            </a:r>
            <a:endParaRPr lang="en-US" sz="1200" dirty="0"/>
          </a:p>
        </p:txBody>
      </p:sp>
      <p:sp>
        <p:nvSpPr>
          <p:cNvPr id="21" name="Text 18"/>
          <p:cNvSpPr txBox="1"/>
          <p:nvPr/>
        </p:nvSpPr>
        <p:spPr>
          <a:xfrm>
            <a:off x="4566818" y="3017520"/>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1. Actuel</a:t>
            </a:r>
            <a:endParaRPr lang="en-US" sz="1100" dirty="0"/>
          </a:p>
        </p:txBody>
      </p:sp>
      <p:sp>
        <p:nvSpPr>
          <p:cNvPr id="22" name="Text 19"/>
          <p:cNvSpPr txBox="1"/>
          <p:nvPr/>
        </p:nvSpPr>
        <p:spPr>
          <a:xfrm>
            <a:off x="4566818" y="3255264"/>
            <a:ext cx="1828800" cy="384048"/>
          </a:xfrm>
          <a:prstGeom prst="rect">
            <a:avLst/>
          </a:prstGeom>
          <a:noFill/>
          <a:ln/>
        </p:spPr>
        <p:txBody>
          <a:bodyPr wrap="square" lIns="0" tIns="0" rIns="0" bIns="0" rtlCol="0" anchor="ctr"/>
          <a:lstStyle/>
          <a:p>
            <a:pPr indent="0" marL="0">
              <a:buNone/>
            </a:pPr>
            <a:r>
              <a:rPr lang="en-US" sz="2200" b="1" dirty="0">
                <a:solidFill>
                  <a:srgbClr val="F4EFE4"/>
                </a:solidFill>
                <a:latin typeface="Arial" pitchFamily="34" charset="0"/>
                <a:ea typeface="Arial" pitchFamily="34" charset="-122"/>
                <a:cs typeface="Arial" pitchFamily="34" charset="-120"/>
              </a:rPr>
              <a:t>2 755 €</a:t>
            </a:r>
            <a:endParaRPr lang="en-US" sz="2200" dirty="0"/>
          </a:p>
        </p:txBody>
      </p:sp>
      <p:sp>
        <p:nvSpPr>
          <p:cNvPr id="23" name="Text 20"/>
          <p:cNvSpPr txBox="1"/>
          <p:nvPr/>
        </p:nvSpPr>
        <p:spPr>
          <a:xfrm>
            <a:off x="6344717" y="3255264"/>
            <a:ext cx="1280160" cy="384048"/>
          </a:xfrm>
          <a:prstGeom prst="rect">
            <a:avLst/>
          </a:prstGeom>
          <a:noFill/>
          <a:ln/>
        </p:spPr>
        <p:txBody>
          <a:bodyPr wrap="square" lIns="0" tIns="0" rIns="0" bIns="0" rtlCol="0" anchor="ctr"/>
          <a:lstStyle/>
          <a:p>
            <a:pPr algn="r" indent="0" marL="0">
              <a:buNone/>
            </a:pPr>
            <a:r>
              <a:rPr lang="en-US" sz="1400" b="1" dirty="0">
                <a:solidFill>
                  <a:srgbClr val="A7C3BF"/>
                </a:solidFill>
                <a:latin typeface="Calibri" pitchFamily="34" charset="0"/>
                <a:ea typeface="Calibri" pitchFamily="34" charset="-122"/>
                <a:cs typeface="Calibri" pitchFamily="34" charset="-120"/>
              </a:rPr>
              <a:t>référence</a:t>
            </a:r>
            <a:endParaRPr lang="en-US" sz="1400" dirty="0"/>
          </a:p>
        </p:txBody>
      </p:sp>
      <p:sp>
        <p:nvSpPr>
          <p:cNvPr id="24" name="Text 21"/>
          <p:cNvSpPr txBox="1"/>
          <p:nvPr/>
        </p:nvSpPr>
        <p:spPr>
          <a:xfrm>
            <a:off x="4566818" y="3675888"/>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3. Notionnel, deux parts</a:t>
            </a:r>
            <a:endParaRPr lang="en-US" sz="1100" dirty="0"/>
          </a:p>
        </p:txBody>
      </p:sp>
      <p:sp>
        <p:nvSpPr>
          <p:cNvPr id="25" name="Text 22"/>
          <p:cNvSpPr txBox="1"/>
          <p:nvPr/>
        </p:nvSpPr>
        <p:spPr>
          <a:xfrm>
            <a:off x="4566818" y="3913632"/>
            <a:ext cx="1828800" cy="384048"/>
          </a:xfrm>
          <a:prstGeom prst="rect">
            <a:avLst/>
          </a:prstGeom>
          <a:noFill/>
          <a:ln/>
        </p:spPr>
        <p:txBody>
          <a:bodyPr wrap="square" lIns="0" tIns="0" rIns="0" bIns="0" rtlCol="0" anchor="ctr"/>
          <a:lstStyle/>
          <a:p>
            <a:pPr indent="0" marL="0">
              <a:buNone/>
            </a:pPr>
            <a:r>
              <a:rPr lang="en-US" sz="2200" b="1" dirty="0">
                <a:solidFill>
                  <a:srgbClr val="F4EFE4"/>
                </a:solidFill>
                <a:latin typeface="Arial" pitchFamily="34" charset="0"/>
                <a:ea typeface="Arial" pitchFamily="34" charset="-122"/>
                <a:cs typeface="Arial" pitchFamily="34" charset="-120"/>
              </a:rPr>
              <a:t>3 344 €</a:t>
            </a:r>
            <a:endParaRPr lang="en-US" sz="2200" dirty="0"/>
          </a:p>
        </p:txBody>
      </p:sp>
      <p:sp>
        <p:nvSpPr>
          <p:cNvPr id="26" name="Text 23"/>
          <p:cNvSpPr txBox="1"/>
          <p:nvPr/>
        </p:nvSpPr>
        <p:spPr>
          <a:xfrm>
            <a:off x="6344717" y="3913632"/>
            <a:ext cx="1280160" cy="384048"/>
          </a:xfrm>
          <a:prstGeom prst="rect">
            <a:avLst/>
          </a:prstGeom>
          <a:noFill/>
          <a:ln/>
        </p:spPr>
        <p:txBody>
          <a:bodyPr wrap="square" lIns="0" tIns="0" rIns="0" bIns="0" rtlCol="0" anchor="ctr"/>
          <a:lstStyle/>
          <a:p>
            <a:pPr algn="r" indent="0" marL="0">
              <a:buNone/>
            </a:pPr>
            <a:r>
              <a:rPr lang="en-US" sz="1400" b="1" dirty="0">
                <a:solidFill>
                  <a:srgbClr val="8AC44A"/>
                </a:solidFill>
                <a:latin typeface="Calibri" pitchFamily="34" charset="0"/>
                <a:ea typeface="Calibri" pitchFamily="34" charset="-122"/>
                <a:cs typeface="Calibri" pitchFamily="34" charset="-120"/>
              </a:rPr>
              <a:t>+21 %</a:t>
            </a:r>
            <a:endParaRPr lang="en-US" sz="1400" dirty="0"/>
          </a:p>
        </p:txBody>
      </p:sp>
      <p:sp>
        <p:nvSpPr>
          <p:cNvPr id="27" name="Text 24"/>
          <p:cNvSpPr txBox="1"/>
          <p:nvPr/>
        </p:nvSpPr>
        <p:spPr>
          <a:xfrm>
            <a:off x="4566818" y="4334256"/>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4. La proposition</a:t>
            </a:r>
            <a:endParaRPr lang="en-US" sz="1100" dirty="0"/>
          </a:p>
        </p:txBody>
      </p:sp>
      <p:sp>
        <p:nvSpPr>
          <p:cNvPr id="28" name="Text 25"/>
          <p:cNvSpPr txBox="1"/>
          <p:nvPr/>
        </p:nvSpPr>
        <p:spPr>
          <a:xfrm>
            <a:off x="4566818" y="4572000"/>
            <a:ext cx="1828800" cy="384048"/>
          </a:xfrm>
          <a:prstGeom prst="rect">
            <a:avLst/>
          </a:prstGeom>
          <a:noFill/>
          <a:ln/>
        </p:spPr>
        <p:txBody>
          <a:bodyPr wrap="square" lIns="0" tIns="0" rIns="0" bIns="0" rtlCol="0" anchor="ctr"/>
          <a:lstStyle/>
          <a:p>
            <a:pPr indent="0" marL="0">
              <a:buNone/>
            </a:pPr>
            <a:r>
              <a:rPr lang="en-US" sz="2200" b="1" dirty="0">
                <a:solidFill>
                  <a:srgbClr val="E9C53D"/>
                </a:solidFill>
                <a:latin typeface="Arial" pitchFamily="34" charset="0"/>
                <a:ea typeface="Arial" pitchFamily="34" charset="-122"/>
                <a:cs typeface="Arial" pitchFamily="34" charset="-120"/>
              </a:rPr>
              <a:t>3 389 €</a:t>
            </a:r>
            <a:endParaRPr lang="en-US" sz="2200" dirty="0"/>
          </a:p>
        </p:txBody>
      </p:sp>
      <p:sp>
        <p:nvSpPr>
          <p:cNvPr id="29" name="Text 26"/>
          <p:cNvSpPr txBox="1"/>
          <p:nvPr/>
        </p:nvSpPr>
        <p:spPr>
          <a:xfrm>
            <a:off x="6344717" y="4572000"/>
            <a:ext cx="1280160" cy="384048"/>
          </a:xfrm>
          <a:prstGeom prst="rect">
            <a:avLst/>
          </a:prstGeom>
          <a:noFill/>
          <a:ln/>
        </p:spPr>
        <p:txBody>
          <a:bodyPr wrap="square" lIns="0" tIns="0" rIns="0" bIns="0" rtlCol="0" anchor="ctr"/>
          <a:lstStyle/>
          <a:p>
            <a:pPr algn="r" indent="0" marL="0">
              <a:buNone/>
            </a:pPr>
            <a:r>
              <a:rPr lang="en-US" sz="1400" b="1" dirty="0">
                <a:solidFill>
                  <a:srgbClr val="8AC44A"/>
                </a:solidFill>
                <a:latin typeface="Calibri" pitchFamily="34" charset="0"/>
                <a:ea typeface="Calibri" pitchFamily="34" charset="-122"/>
                <a:cs typeface="Calibri" pitchFamily="34" charset="-120"/>
              </a:rPr>
              <a:t>+23 %</a:t>
            </a:r>
            <a:endParaRPr lang="en-US" sz="1400" dirty="0"/>
          </a:p>
        </p:txBody>
      </p:sp>
      <p:sp>
        <p:nvSpPr>
          <p:cNvPr id="30" name="Text 27"/>
          <p:cNvSpPr txBox="1"/>
          <p:nvPr/>
        </p:nvSpPr>
        <p:spPr>
          <a:xfrm>
            <a:off x="4566818" y="5120640"/>
            <a:ext cx="3058058" cy="960120"/>
          </a:xfrm>
          <a:prstGeom prst="rect">
            <a:avLst/>
          </a:prstGeom>
          <a:noFill/>
          <a:ln/>
        </p:spPr>
        <p:txBody>
          <a:bodyPr wrap="square" lIns="0" tIns="0" rIns="0" bIns="0" rtlCol="0" anchor="t"/>
          <a:lstStyle/>
          <a:p>
            <a:pPr indent="0" marL="0">
              <a:buNone/>
            </a:pPr>
            <a:r>
              <a:rPr lang="en-US" sz="1300" i="1" dirty="0">
                <a:solidFill>
                  <a:srgbClr val="F4EFE4"/>
                </a:solidFill>
                <a:latin typeface="Cambria" pitchFamily="34" charset="0"/>
                <a:ea typeface="Cambria" pitchFamily="34" charset="-122"/>
                <a:cs typeface="Cambria" pitchFamily="34" charset="-120"/>
              </a:rPr>
              <a:t>L'État cotise jusqu'à 82 % du traitement : le compte le rend.</a:t>
            </a:r>
            <a:endParaRPr lang="en-US" sz="1300" dirty="0"/>
          </a:p>
        </p:txBody>
      </p:sp>
      <p:sp>
        <p:nvSpPr>
          <p:cNvPr id="31" name="Shape 28"/>
          <p:cNvSpPr/>
          <p:nvPr/>
        </p:nvSpPr>
        <p:spPr>
          <a:xfrm>
            <a:off x="8127797" y="1554480"/>
            <a:ext cx="3515258" cy="4663440"/>
          </a:xfrm>
          <a:prstGeom prst="rect">
            <a:avLst/>
          </a:prstGeom>
          <a:solidFill>
            <a:srgbClr val="0F4A46"/>
          </a:solidFill>
          <a:ln w="9525">
            <a:solidFill>
              <a:srgbClr val="2F6360"/>
            </a:solidFill>
            <a:prstDash val="solid"/>
          </a:ln>
        </p:spPr>
      </p:sp>
      <p:sp>
        <p:nvSpPr>
          <p:cNvPr id="32" name="Text 29"/>
          <p:cNvSpPr txBox="1"/>
          <p:nvPr/>
        </p:nvSpPr>
        <p:spPr>
          <a:xfrm>
            <a:off x="8356397" y="1737360"/>
            <a:ext cx="3058058" cy="41148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Née en 2000, salaire moyen</a:t>
            </a:r>
            <a:endParaRPr lang="en-US" sz="1500" dirty="0"/>
          </a:p>
        </p:txBody>
      </p:sp>
      <p:sp>
        <p:nvSpPr>
          <p:cNvPr id="33" name="Text 30"/>
          <p:cNvSpPr txBox="1"/>
          <p:nvPr/>
        </p:nvSpPr>
        <p:spPr>
          <a:xfrm>
            <a:off x="8356397" y="2176272"/>
            <a:ext cx="3058058" cy="73152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Salariée du privé depuis septembre 2022, 2 751 € net. Départ à 64 ans en 2064.</a:t>
            </a:r>
            <a:endParaRPr lang="en-US" sz="1200" dirty="0"/>
          </a:p>
        </p:txBody>
      </p:sp>
      <p:sp>
        <p:nvSpPr>
          <p:cNvPr id="34" name="Text 31"/>
          <p:cNvSpPr txBox="1"/>
          <p:nvPr/>
        </p:nvSpPr>
        <p:spPr>
          <a:xfrm>
            <a:off x="8356397" y="3017520"/>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1. Actuel</a:t>
            </a:r>
            <a:endParaRPr lang="en-US" sz="1100" dirty="0"/>
          </a:p>
        </p:txBody>
      </p:sp>
      <p:sp>
        <p:nvSpPr>
          <p:cNvPr id="35" name="Text 32"/>
          <p:cNvSpPr txBox="1"/>
          <p:nvPr/>
        </p:nvSpPr>
        <p:spPr>
          <a:xfrm>
            <a:off x="8356397" y="3255264"/>
            <a:ext cx="1828800" cy="384048"/>
          </a:xfrm>
          <a:prstGeom prst="rect">
            <a:avLst/>
          </a:prstGeom>
          <a:noFill/>
          <a:ln/>
        </p:spPr>
        <p:txBody>
          <a:bodyPr wrap="square" lIns="0" tIns="0" rIns="0" bIns="0" rtlCol="0" anchor="ctr"/>
          <a:lstStyle/>
          <a:p>
            <a:pPr indent="0" marL="0">
              <a:buNone/>
            </a:pPr>
            <a:r>
              <a:rPr lang="en-US" sz="2200" b="1" dirty="0">
                <a:solidFill>
                  <a:srgbClr val="F4EFE4"/>
                </a:solidFill>
                <a:latin typeface="Arial" pitchFamily="34" charset="0"/>
                <a:ea typeface="Arial" pitchFamily="34" charset="-122"/>
                <a:cs typeface="Arial" pitchFamily="34" charset="-120"/>
              </a:rPr>
              <a:t>2 462 €</a:t>
            </a:r>
            <a:endParaRPr lang="en-US" sz="2200" dirty="0"/>
          </a:p>
        </p:txBody>
      </p:sp>
      <p:sp>
        <p:nvSpPr>
          <p:cNvPr id="36" name="Text 33"/>
          <p:cNvSpPr txBox="1"/>
          <p:nvPr/>
        </p:nvSpPr>
        <p:spPr>
          <a:xfrm>
            <a:off x="10134295" y="3255264"/>
            <a:ext cx="1280160" cy="384048"/>
          </a:xfrm>
          <a:prstGeom prst="rect">
            <a:avLst/>
          </a:prstGeom>
          <a:noFill/>
          <a:ln/>
        </p:spPr>
        <p:txBody>
          <a:bodyPr wrap="square" lIns="0" tIns="0" rIns="0" bIns="0" rtlCol="0" anchor="ctr"/>
          <a:lstStyle/>
          <a:p>
            <a:pPr algn="r" indent="0" marL="0">
              <a:buNone/>
            </a:pPr>
            <a:r>
              <a:rPr lang="en-US" sz="1400" b="1" dirty="0">
                <a:solidFill>
                  <a:srgbClr val="A7C3BF"/>
                </a:solidFill>
                <a:latin typeface="Calibri" pitchFamily="34" charset="0"/>
                <a:ea typeface="Calibri" pitchFamily="34" charset="-122"/>
                <a:cs typeface="Calibri" pitchFamily="34" charset="-120"/>
              </a:rPr>
              <a:t>référence</a:t>
            </a:r>
            <a:endParaRPr lang="en-US" sz="1400" dirty="0"/>
          </a:p>
        </p:txBody>
      </p:sp>
      <p:sp>
        <p:nvSpPr>
          <p:cNvPr id="37" name="Text 34"/>
          <p:cNvSpPr txBox="1"/>
          <p:nvPr/>
        </p:nvSpPr>
        <p:spPr>
          <a:xfrm>
            <a:off x="8356397" y="3675888"/>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3. Notionnel, deux parts</a:t>
            </a:r>
            <a:endParaRPr lang="en-US" sz="1100" dirty="0"/>
          </a:p>
        </p:txBody>
      </p:sp>
      <p:sp>
        <p:nvSpPr>
          <p:cNvPr id="38" name="Text 35"/>
          <p:cNvSpPr txBox="1"/>
          <p:nvPr/>
        </p:nvSpPr>
        <p:spPr>
          <a:xfrm>
            <a:off x="8356397" y="3913632"/>
            <a:ext cx="1828800" cy="384048"/>
          </a:xfrm>
          <a:prstGeom prst="rect">
            <a:avLst/>
          </a:prstGeom>
          <a:noFill/>
          <a:ln/>
        </p:spPr>
        <p:txBody>
          <a:bodyPr wrap="square" lIns="0" tIns="0" rIns="0" bIns="0" rtlCol="0" anchor="ctr"/>
          <a:lstStyle/>
          <a:p>
            <a:pPr indent="0" marL="0">
              <a:buNone/>
            </a:pPr>
            <a:r>
              <a:rPr lang="en-US" sz="2200" b="1" dirty="0">
                <a:solidFill>
                  <a:srgbClr val="F4EFE4"/>
                </a:solidFill>
                <a:latin typeface="Arial" pitchFamily="34" charset="0"/>
                <a:ea typeface="Arial" pitchFamily="34" charset="-122"/>
                <a:cs typeface="Arial" pitchFamily="34" charset="-120"/>
              </a:rPr>
              <a:t>1 593 €</a:t>
            </a:r>
            <a:endParaRPr lang="en-US" sz="2200" dirty="0"/>
          </a:p>
        </p:txBody>
      </p:sp>
      <p:sp>
        <p:nvSpPr>
          <p:cNvPr id="39" name="Text 36"/>
          <p:cNvSpPr txBox="1"/>
          <p:nvPr/>
        </p:nvSpPr>
        <p:spPr>
          <a:xfrm>
            <a:off x="10134295" y="3913632"/>
            <a:ext cx="1280160" cy="384048"/>
          </a:xfrm>
          <a:prstGeom prst="rect">
            <a:avLst/>
          </a:prstGeom>
          <a:noFill/>
          <a:ln/>
        </p:spPr>
        <p:txBody>
          <a:bodyPr wrap="square" lIns="0" tIns="0" rIns="0" bIns="0" rtlCol="0" anchor="ctr"/>
          <a:lstStyle/>
          <a:p>
            <a:pPr algn="r" indent="0" marL="0">
              <a:buNone/>
            </a:pPr>
            <a:r>
              <a:rPr lang="en-US" sz="1400" b="1" dirty="0">
                <a:solidFill>
                  <a:srgbClr val="E8807F"/>
                </a:solidFill>
                <a:latin typeface="Calibri" pitchFamily="34" charset="0"/>
                <a:ea typeface="Calibri" pitchFamily="34" charset="-122"/>
                <a:cs typeface="Calibri" pitchFamily="34" charset="-120"/>
              </a:rPr>
              <a:t>-35 %</a:t>
            </a:r>
            <a:endParaRPr lang="en-US" sz="1400" dirty="0"/>
          </a:p>
        </p:txBody>
      </p:sp>
      <p:sp>
        <p:nvSpPr>
          <p:cNvPr id="40" name="Text 37"/>
          <p:cNvSpPr txBox="1"/>
          <p:nvPr/>
        </p:nvSpPr>
        <p:spPr>
          <a:xfrm>
            <a:off x="8356397" y="4334256"/>
            <a:ext cx="3058058" cy="256032"/>
          </a:xfrm>
          <a:prstGeom prst="rect">
            <a:avLst/>
          </a:prstGeom>
          <a:noFill/>
          <a:ln/>
        </p:spPr>
        <p:txBody>
          <a:bodyPr wrap="square" lIns="0" tIns="0" rIns="0" bIns="0" rtlCol="0" anchor="ctr"/>
          <a:lstStyle/>
          <a:p>
            <a:pPr indent="0" marL="0">
              <a:buNone/>
            </a:pPr>
            <a:r>
              <a:rPr lang="en-US" sz="1100" dirty="0">
                <a:solidFill>
                  <a:srgbClr val="A7C3BF"/>
                </a:solidFill>
                <a:latin typeface="Calibri" pitchFamily="34" charset="0"/>
                <a:ea typeface="Calibri" pitchFamily="34" charset="-122"/>
                <a:cs typeface="Calibri" pitchFamily="34" charset="-120"/>
              </a:rPr>
              <a:t>4. La proposition</a:t>
            </a:r>
            <a:endParaRPr lang="en-US" sz="1100" dirty="0"/>
          </a:p>
        </p:txBody>
      </p:sp>
      <p:sp>
        <p:nvSpPr>
          <p:cNvPr id="41" name="Text 38"/>
          <p:cNvSpPr txBox="1"/>
          <p:nvPr/>
        </p:nvSpPr>
        <p:spPr>
          <a:xfrm>
            <a:off x="8356397" y="4572000"/>
            <a:ext cx="1828800" cy="384048"/>
          </a:xfrm>
          <a:prstGeom prst="rect">
            <a:avLst/>
          </a:prstGeom>
          <a:noFill/>
          <a:ln/>
        </p:spPr>
        <p:txBody>
          <a:bodyPr wrap="square" lIns="0" tIns="0" rIns="0" bIns="0" rtlCol="0" anchor="ctr"/>
          <a:lstStyle/>
          <a:p>
            <a:pPr indent="0" marL="0">
              <a:buNone/>
            </a:pPr>
            <a:r>
              <a:rPr lang="en-US" sz="2200" b="1" dirty="0">
                <a:solidFill>
                  <a:srgbClr val="E9C53D"/>
                </a:solidFill>
                <a:latin typeface="Arial" pitchFamily="34" charset="0"/>
                <a:ea typeface="Arial" pitchFamily="34" charset="-122"/>
                <a:cs typeface="Arial" pitchFamily="34" charset="-120"/>
              </a:rPr>
              <a:t>1 800 €</a:t>
            </a:r>
            <a:endParaRPr lang="en-US" sz="2200" dirty="0"/>
          </a:p>
        </p:txBody>
      </p:sp>
      <p:sp>
        <p:nvSpPr>
          <p:cNvPr id="42" name="Text 39"/>
          <p:cNvSpPr txBox="1"/>
          <p:nvPr/>
        </p:nvSpPr>
        <p:spPr>
          <a:xfrm>
            <a:off x="10134295" y="4572000"/>
            <a:ext cx="1280160" cy="384048"/>
          </a:xfrm>
          <a:prstGeom prst="rect">
            <a:avLst/>
          </a:prstGeom>
          <a:noFill/>
          <a:ln/>
        </p:spPr>
        <p:txBody>
          <a:bodyPr wrap="square" lIns="0" tIns="0" rIns="0" bIns="0" rtlCol="0" anchor="ctr"/>
          <a:lstStyle/>
          <a:p>
            <a:pPr algn="r" indent="0" marL="0">
              <a:buNone/>
            </a:pPr>
            <a:r>
              <a:rPr lang="en-US" sz="1400" b="1" dirty="0">
                <a:solidFill>
                  <a:srgbClr val="E8807F"/>
                </a:solidFill>
                <a:latin typeface="Calibri" pitchFamily="34" charset="0"/>
                <a:ea typeface="Calibri" pitchFamily="34" charset="-122"/>
                <a:cs typeface="Calibri" pitchFamily="34" charset="-120"/>
              </a:rPr>
              <a:t>-27 %</a:t>
            </a:r>
            <a:endParaRPr lang="en-US" sz="1400" dirty="0"/>
          </a:p>
        </p:txBody>
      </p:sp>
      <p:sp>
        <p:nvSpPr>
          <p:cNvPr id="43" name="Text 40"/>
          <p:cNvSpPr txBox="1"/>
          <p:nvPr/>
        </p:nvSpPr>
        <p:spPr>
          <a:xfrm>
            <a:off x="8356397" y="5120640"/>
            <a:ext cx="3058058" cy="960120"/>
          </a:xfrm>
          <a:prstGeom prst="rect">
            <a:avLst/>
          </a:prstGeom>
          <a:noFill/>
          <a:ln/>
        </p:spPr>
        <p:txBody>
          <a:bodyPr wrap="square" lIns="0" tIns="0" rIns="0" bIns="0" rtlCol="0" anchor="t"/>
          <a:lstStyle/>
          <a:p>
            <a:pPr indent="0" marL="0">
              <a:buNone/>
            </a:pPr>
            <a:r>
              <a:rPr lang="en-US" sz="1300" i="1" dirty="0">
                <a:solidFill>
                  <a:srgbClr val="F4EFE4"/>
                </a:solidFill>
                <a:latin typeface="Cambria" pitchFamily="34" charset="0"/>
                <a:ea typeface="Cambria" pitchFamily="34" charset="-122"/>
                <a:cs typeface="Cambria" pitchFamily="34" charset="-120"/>
              </a:rPr>
              <a:t>Presque toute la carrière après la bascule : la rente capitalisée pèse le plus.</a:t>
            </a:r>
            <a:endParaRPr lang="en-US" sz="1300" dirty="0"/>
          </a:p>
        </p:txBody>
      </p:sp>
      <p:sp>
        <p:nvSpPr>
          <p:cNvPr id="44" name="Text 4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45" name="Text 4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CAS TYPES</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TREIZE CARRIÈRES, SEPT GÉNÉRATIONS</a:t>
            </a:r>
            <a:endParaRPr lang="en-US" sz="3000" dirty="0"/>
          </a:p>
        </p:txBody>
      </p:sp>
      <p:sp>
        <p:nvSpPr>
          <p:cNvPr id="5" name="Text 2"/>
          <p:cNvSpPr txBox="1"/>
          <p:nvPr/>
        </p:nvSpPr>
        <p:spPr>
          <a:xfrm>
            <a:off x="548640" y="1417320"/>
            <a:ext cx="11094415" cy="365760"/>
          </a:xfrm>
          <a:prstGeom prst="rect">
            <a:avLst/>
          </a:prstGeom>
          <a:noFill/>
          <a:ln/>
        </p:spPr>
        <p:txBody>
          <a:bodyPr wrap="square" lIns="0" tIns="0" rIns="0" bIns="0" rtlCol="0" anchor="ctr"/>
          <a:lstStyle/>
          <a:p>
            <a:pPr indent="0" marL="0">
              <a:buNone/>
            </a:pPr>
            <a:r>
              <a:rPr lang="en-US" sz="1300" dirty="0">
                <a:solidFill>
                  <a:srgbClr val="A7C3BF"/>
                </a:solidFill>
                <a:latin typeface="Calibri" pitchFamily="34" charset="0"/>
                <a:ea typeface="Calibri" pitchFamily="34" charset="-122"/>
                <a:cs typeface="Calibri" pitchFamily="34" charset="-120"/>
              </a:rPr>
              <a:t>La proposition par rapport à aujourd'hui, pour la même carrière. Rouge : moins. Vert : plus.</a:t>
            </a:r>
            <a:endParaRPr lang="en-US" sz="1300" dirty="0"/>
          </a:p>
        </p:txBody>
      </p:sp>
      <p:pic>
        <p:nvPicPr>
          <p:cNvPr id="6" name="Image 0" descr="/tmp/claude-0/-home-user-retraitecomptenotionelle/a76803f7-4b55-5595-a5c7-976d4a1e9c11/scratchpad/cap/cas-grille-c.png">    </p:cNvPr>
          <p:cNvPicPr>
            <a:picLocks noChangeAspect="1"/>
          </p:cNvPicPr>
          <p:nvPr/>
        </p:nvPicPr>
        <p:blipFill>
          <a:blip r:embed="rId1"/>
          <a:stretch>
            <a:fillRect/>
          </a:stretch>
        </p:blipFill>
        <p:spPr>
          <a:xfrm>
            <a:off x="2292251" y="1828800"/>
            <a:ext cx="7607193" cy="4526280"/>
          </a:xfrm>
          <a:prstGeom prst="rect">
            <a:avLst/>
          </a:prstGeom>
        </p:spPr>
      </p:pic>
      <p:sp>
        <p:nvSpPr>
          <p:cNvPr id="7"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8"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LA QUESTION QUI VIENT À COUP SÛR</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2600" b="1" dirty="0">
                <a:solidFill>
                  <a:srgbClr val="F4EFE4"/>
                </a:solidFill>
                <a:latin typeface="Arial" pitchFamily="34" charset="0"/>
                <a:ea typeface="Arial" pitchFamily="34" charset="-122"/>
                <a:cs typeface="Arial" pitchFamily="34" charset="-120"/>
              </a:rPr>
              <a:t>« TOUT EST ROUGE, DONC LES PENSIONS BAISSENT ? »</a:t>
            </a:r>
            <a:endParaRPr lang="en-US" sz="2600" dirty="0"/>
          </a:p>
        </p:txBody>
      </p:sp>
      <p:sp>
        <p:nvSpPr>
          <p:cNvPr id="5" name="Shape 2"/>
          <p:cNvSpPr/>
          <p:nvPr/>
        </p:nvSpPr>
        <p:spPr>
          <a:xfrm>
            <a:off x="548640" y="1645920"/>
            <a:ext cx="457200" cy="457200"/>
          </a:xfrm>
          <a:prstGeom prst="ellipse">
            <a:avLst/>
          </a:prstGeom>
          <a:solidFill>
            <a:srgbClr val="E9C53D"/>
          </a:solidFill>
          <a:ln w="12700">
            <a:solidFill>
              <a:srgbClr val="E9C53D"/>
            </a:solidFill>
            <a:prstDash val="solid"/>
          </a:ln>
        </p:spPr>
      </p:sp>
      <p:sp>
        <p:nvSpPr>
          <p:cNvPr id="6" name="Text 3"/>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1600" b="1" dirty="0">
                <a:solidFill>
                  <a:srgbClr val="0B3D3A"/>
                </a:solidFill>
                <a:latin typeface="Arial" pitchFamily="34" charset="0"/>
                <a:ea typeface="Arial" pitchFamily="34" charset="-122"/>
                <a:cs typeface="Arial" pitchFamily="34" charset="-120"/>
              </a:rPr>
              <a:t>1</a:t>
            </a:r>
            <a:endParaRPr lang="en-US" sz="1600" dirty="0"/>
          </a:p>
        </p:txBody>
      </p:sp>
      <p:sp>
        <p:nvSpPr>
          <p:cNvPr id="7" name="Text 4"/>
          <p:cNvSpPr txBox="1"/>
          <p:nvPr/>
        </p:nvSpPr>
        <p:spPr>
          <a:xfrm>
            <a:off x="1234440" y="1600200"/>
            <a:ext cx="6675120" cy="411480"/>
          </a:xfrm>
          <a:prstGeom prst="rect">
            <a:avLst/>
          </a:prstGeom>
          <a:noFill/>
          <a:ln/>
        </p:spPr>
        <p:txBody>
          <a:bodyPr wrap="square" lIns="0" tIns="0" rIns="0" bIns="0" rtlCol="0" anchor="ctr"/>
          <a:lstStyle/>
          <a:p>
            <a:pPr indent="0" marL="0">
              <a:buNone/>
            </a:pPr>
            <a:r>
              <a:rPr lang="en-US" sz="1700" b="1" dirty="0">
                <a:solidFill>
                  <a:srgbClr val="F4EFE4"/>
                </a:solidFill>
                <a:latin typeface="Arial" pitchFamily="34" charset="0"/>
                <a:ea typeface="Arial" pitchFamily="34" charset="-122"/>
                <a:cs typeface="Arial" pitchFamily="34" charset="-120"/>
              </a:rPr>
              <a:t>Ce ne sont pas des baisses de pension.</a:t>
            </a:r>
            <a:endParaRPr lang="en-US" sz="1700" dirty="0"/>
          </a:p>
        </p:txBody>
      </p:sp>
      <p:sp>
        <p:nvSpPr>
          <p:cNvPr id="8" name="Text 5"/>
          <p:cNvSpPr txBox="1"/>
          <p:nvPr/>
        </p:nvSpPr>
        <p:spPr>
          <a:xfrm>
            <a:off x="1234440" y="2039112"/>
            <a:ext cx="6675120" cy="96012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Chaque case compare deux carrières calculées sous la même règle. La grille mesure l'écart entre ses lignes : ce qu'un militaire touche de plus ou de moins qu'un artisan, à cotisation égale.</a:t>
            </a:r>
            <a:endParaRPr lang="en-US" sz="1300" dirty="0"/>
          </a:p>
        </p:txBody>
      </p:sp>
      <p:sp>
        <p:nvSpPr>
          <p:cNvPr id="9" name="Shape 6"/>
          <p:cNvSpPr/>
          <p:nvPr/>
        </p:nvSpPr>
        <p:spPr>
          <a:xfrm>
            <a:off x="548640" y="3063240"/>
            <a:ext cx="457200" cy="457200"/>
          </a:xfrm>
          <a:prstGeom prst="ellipse">
            <a:avLst/>
          </a:prstGeom>
          <a:solidFill>
            <a:srgbClr val="E9C53D"/>
          </a:solidFill>
          <a:ln w="12700">
            <a:solidFill>
              <a:srgbClr val="E9C53D"/>
            </a:solidFill>
            <a:prstDash val="solid"/>
          </a:ln>
        </p:spPr>
      </p:sp>
      <p:sp>
        <p:nvSpPr>
          <p:cNvPr id="10" name="Text 7"/>
          <p:cNvSpPr txBox="1"/>
          <p:nvPr/>
        </p:nvSpPr>
        <p:spPr>
          <a:xfrm>
            <a:off x="548640" y="3063240"/>
            <a:ext cx="457200" cy="457200"/>
          </a:xfrm>
          <a:prstGeom prst="rect">
            <a:avLst/>
          </a:prstGeom>
          <a:noFill/>
          <a:ln/>
        </p:spPr>
        <p:txBody>
          <a:bodyPr wrap="square" lIns="0" tIns="0" rIns="0" bIns="0" rtlCol="0" anchor="ctr"/>
          <a:lstStyle/>
          <a:p>
            <a:pPr algn="ctr" indent="0" marL="0">
              <a:buNone/>
            </a:pPr>
            <a:r>
              <a:rPr lang="en-US" sz="1600" b="1" dirty="0">
                <a:solidFill>
                  <a:srgbClr val="0B3D3A"/>
                </a:solidFill>
                <a:latin typeface="Arial" pitchFamily="34" charset="0"/>
                <a:ea typeface="Arial" pitchFamily="34" charset="-122"/>
                <a:cs typeface="Arial" pitchFamily="34" charset="-120"/>
              </a:rPr>
              <a:t>2</a:t>
            </a:r>
            <a:endParaRPr lang="en-US" sz="1600" dirty="0"/>
          </a:p>
        </p:txBody>
      </p:sp>
      <p:sp>
        <p:nvSpPr>
          <p:cNvPr id="11" name="Text 8"/>
          <p:cNvSpPr txBox="1"/>
          <p:nvPr/>
        </p:nvSpPr>
        <p:spPr>
          <a:xfrm>
            <a:off x="1234440" y="3017520"/>
            <a:ext cx="6675120" cy="411480"/>
          </a:xfrm>
          <a:prstGeom prst="rect">
            <a:avLst/>
          </a:prstGeom>
          <a:noFill/>
          <a:ln/>
        </p:spPr>
        <p:txBody>
          <a:bodyPr wrap="square" lIns="0" tIns="0" rIns="0" bIns="0" rtlCol="0" anchor="ctr"/>
          <a:lstStyle/>
          <a:p>
            <a:pPr indent="0" marL="0">
              <a:buNone/>
            </a:pPr>
            <a:r>
              <a:rPr lang="en-US" sz="1700" b="1" dirty="0">
                <a:solidFill>
                  <a:srgbClr val="F4EFE4"/>
                </a:solidFill>
                <a:latin typeface="Arial" pitchFamily="34" charset="0"/>
                <a:ea typeface="Arial" pitchFamily="34" charset="-122"/>
                <a:cs typeface="Arial" pitchFamily="34" charset="-120"/>
              </a:rPr>
              <a:t>Le niveau général est un réglage annuel.</a:t>
            </a:r>
            <a:endParaRPr lang="en-US" sz="1700" dirty="0"/>
          </a:p>
        </p:txBody>
      </p:sp>
      <p:sp>
        <p:nvSpPr>
          <p:cNvPr id="12" name="Text 9"/>
          <p:cNvSpPr txBox="1"/>
          <p:nvPr/>
        </p:nvSpPr>
        <p:spPr>
          <a:xfrm>
            <a:off x="1234440" y="3456432"/>
            <a:ext cx="6675120" cy="96012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Le coefficient d'équilibre, que le modèle calcule mais n'applique jamais, multiplierait toutes les cases par le même facteur. Pour la proposition, il est supérieur à un chaque année : une marge, de quoi relever toutes les cases d'autant.</a:t>
            </a:r>
            <a:endParaRPr lang="en-US" sz="1300" dirty="0"/>
          </a:p>
        </p:txBody>
      </p:sp>
      <p:sp>
        <p:nvSpPr>
          <p:cNvPr id="13" name="Shape 10"/>
          <p:cNvSpPr/>
          <p:nvPr/>
        </p:nvSpPr>
        <p:spPr>
          <a:xfrm>
            <a:off x="548640" y="4480560"/>
            <a:ext cx="457200" cy="457200"/>
          </a:xfrm>
          <a:prstGeom prst="ellipse">
            <a:avLst/>
          </a:prstGeom>
          <a:solidFill>
            <a:srgbClr val="E9C53D"/>
          </a:solidFill>
          <a:ln w="12700">
            <a:solidFill>
              <a:srgbClr val="E9C53D"/>
            </a:solidFill>
            <a:prstDash val="solid"/>
          </a:ln>
        </p:spPr>
      </p:sp>
      <p:sp>
        <p:nvSpPr>
          <p:cNvPr id="14" name="Text 11"/>
          <p:cNvSpPr txBox="1"/>
          <p:nvPr/>
        </p:nvSpPr>
        <p:spPr>
          <a:xfrm>
            <a:off x="548640" y="4480560"/>
            <a:ext cx="457200" cy="457200"/>
          </a:xfrm>
          <a:prstGeom prst="rect">
            <a:avLst/>
          </a:prstGeom>
          <a:noFill/>
          <a:ln/>
        </p:spPr>
        <p:txBody>
          <a:bodyPr wrap="square" lIns="0" tIns="0" rIns="0" bIns="0" rtlCol="0" anchor="ctr"/>
          <a:lstStyle/>
          <a:p>
            <a:pPr algn="ctr" indent="0" marL="0">
              <a:buNone/>
            </a:pPr>
            <a:r>
              <a:rPr lang="en-US" sz="1600" b="1" dirty="0">
                <a:solidFill>
                  <a:srgbClr val="0B3D3A"/>
                </a:solidFill>
                <a:latin typeface="Arial" pitchFamily="34" charset="0"/>
                <a:ea typeface="Arial" pitchFamily="34" charset="-122"/>
                <a:cs typeface="Arial" pitchFamily="34" charset="-120"/>
              </a:rPr>
              <a:t>3</a:t>
            </a:r>
            <a:endParaRPr lang="en-US" sz="1600" dirty="0"/>
          </a:p>
        </p:txBody>
      </p:sp>
      <p:sp>
        <p:nvSpPr>
          <p:cNvPr id="15" name="Text 12"/>
          <p:cNvSpPr txBox="1"/>
          <p:nvPr/>
        </p:nvSpPr>
        <p:spPr>
          <a:xfrm>
            <a:off x="1234440" y="4434840"/>
            <a:ext cx="6675120" cy="411480"/>
          </a:xfrm>
          <a:prstGeom prst="rect">
            <a:avLst/>
          </a:prstGeom>
          <a:noFill/>
          <a:ln/>
        </p:spPr>
        <p:txBody>
          <a:bodyPr wrap="square" lIns="0" tIns="0" rIns="0" bIns="0" rtlCol="0" anchor="ctr"/>
          <a:lstStyle/>
          <a:p>
            <a:pPr indent="0" marL="0">
              <a:buNone/>
            </a:pPr>
            <a:r>
              <a:rPr lang="en-US" sz="1700" b="1" dirty="0">
                <a:solidFill>
                  <a:srgbClr val="F4EFE4"/>
                </a:solidFill>
                <a:latin typeface="Arial" pitchFamily="34" charset="0"/>
                <a:ea typeface="Arial" pitchFamily="34" charset="-122"/>
                <a:cs typeface="Arial" pitchFamily="34" charset="-120"/>
              </a:rPr>
              <a:t>« Aujourd'hui » n'est pas un point fixe.</a:t>
            </a:r>
            <a:endParaRPr lang="en-US" sz="1700" dirty="0"/>
          </a:p>
        </p:txBody>
      </p:sp>
      <p:sp>
        <p:nvSpPr>
          <p:cNvPr id="16" name="Text 13"/>
          <p:cNvSpPr txBox="1"/>
          <p:nvPr/>
        </p:nvSpPr>
        <p:spPr>
          <a:xfrm>
            <a:off x="1234440" y="4873752"/>
            <a:ext cx="6675120" cy="960120"/>
          </a:xfrm>
          <a:prstGeom prst="rect">
            <a:avLst/>
          </a:prstGeom>
          <a:noFill/>
          <a:ln/>
        </p:spPr>
        <p:txBody>
          <a:bodyPr wrap="square" lIns="0" tIns="0" rIns="0" bIns="0" rtlCol="0" anchor="t"/>
          <a:lstStyle/>
          <a:p>
            <a:pPr indent="0" marL="0">
              <a:buNone/>
            </a:pPr>
            <a:r>
              <a:rPr lang="en-US" sz="1300" dirty="0">
                <a:solidFill>
                  <a:srgbClr val="C3D8D4"/>
                </a:solidFill>
                <a:latin typeface="Calibri" pitchFamily="34" charset="0"/>
                <a:ea typeface="Calibri" pitchFamily="34" charset="-122"/>
                <a:cs typeface="Calibri" pitchFamily="34" charset="-120"/>
              </a:rPr>
              <a:t>Le système actuel manque déjà de 0,17 % du PIB en 2025, et le COR projette 2,39 % en 2070. Le choix réel se joue entre le notionnel et un système qui dérive.</a:t>
            </a:r>
            <a:endParaRPr lang="en-US" sz="1300" dirty="0"/>
          </a:p>
        </p:txBody>
      </p:sp>
      <p:sp>
        <p:nvSpPr>
          <p:cNvPr id="17" name="Shape 14"/>
          <p:cNvSpPr/>
          <p:nvPr/>
        </p:nvSpPr>
        <p:spPr>
          <a:xfrm>
            <a:off x="8412480" y="1600200"/>
            <a:ext cx="3227832" cy="1600200"/>
          </a:xfrm>
          <a:prstGeom prst="rect">
            <a:avLst/>
          </a:prstGeom>
          <a:solidFill>
            <a:srgbClr val="0F4A46"/>
          </a:solidFill>
          <a:ln w="9525">
            <a:solidFill>
              <a:srgbClr val="2F6360"/>
            </a:solidFill>
            <a:prstDash val="solid"/>
          </a:ln>
        </p:spPr>
      </p:sp>
      <p:sp>
        <p:nvSpPr>
          <p:cNvPr id="18" name="Text 15"/>
          <p:cNvSpPr txBox="1"/>
          <p:nvPr/>
        </p:nvSpPr>
        <p:spPr>
          <a:xfrm>
            <a:off x="8595360" y="1737360"/>
            <a:ext cx="2862072" cy="731520"/>
          </a:xfrm>
          <a:prstGeom prst="rect">
            <a:avLst/>
          </a:prstGeom>
          <a:noFill/>
          <a:ln/>
        </p:spPr>
        <p:txBody>
          <a:bodyPr wrap="square" lIns="0" tIns="0" rIns="0" bIns="0" rtlCol="0" anchor="ctr"/>
          <a:lstStyle/>
          <a:p>
            <a:pPr indent="0" marL="0">
              <a:buNone/>
            </a:pPr>
            <a:r>
              <a:rPr lang="en-US" sz="3400" b="1" dirty="0">
                <a:solidFill>
                  <a:srgbClr val="E9C53D"/>
                </a:solidFill>
                <a:latin typeface="Arial" pitchFamily="34" charset="0"/>
                <a:ea typeface="Arial" pitchFamily="34" charset="-122"/>
                <a:cs typeface="Arial" pitchFamily="34" charset="-120"/>
              </a:rPr>
              <a:t>+7 %</a:t>
            </a:r>
            <a:endParaRPr lang="en-US" sz="3400" dirty="0"/>
          </a:p>
        </p:txBody>
      </p:sp>
      <p:sp>
        <p:nvSpPr>
          <p:cNvPr id="19" name="Text 16"/>
          <p:cNvSpPr txBox="1"/>
          <p:nvPr/>
        </p:nvSpPr>
        <p:spPr>
          <a:xfrm>
            <a:off x="8595360" y="2468880"/>
            <a:ext cx="2862072"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LA MIEUX TRAITÉE</a:t>
            </a:r>
            <a:endParaRPr lang="en-US" sz="1100" dirty="0"/>
          </a:p>
        </p:txBody>
      </p:sp>
      <p:sp>
        <p:nvSpPr>
          <p:cNvPr id="20" name="Text 17"/>
          <p:cNvSpPr txBox="1"/>
          <p:nvPr/>
        </p:nvSpPr>
        <p:spPr>
          <a:xfrm>
            <a:off x="8595360" y="2770632"/>
            <a:ext cx="2862072"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Chef d'exploitation agricole, génération 2000</a:t>
            </a:r>
            <a:endParaRPr lang="en-US" sz="1200" dirty="0"/>
          </a:p>
        </p:txBody>
      </p:sp>
      <p:sp>
        <p:nvSpPr>
          <p:cNvPr id="21" name="Shape 18"/>
          <p:cNvSpPr/>
          <p:nvPr/>
        </p:nvSpPr>
        <p:spPr>
          <a:xfrm>
            <a:off x="8412480" y="3337560"/>
            <a:ext cx="3227832" cy="1600200"/>
          </a:xfrm>
          <a:prstGeom prst="rect">
            <a:avLst/>
          </a:prstGeom>
          <a:solidFill>
            <a:srgbClr val="0F4A46"/>
          </a:solidFill>
          <a:ln w="9525">
            <a:solidFill>
              <a:srgbClr val="2F6360"/>
            </a:solidFill>
            <a:prstDash val="solid"/>
          </a:ln>
        </p:spPr>
      </p:sp>
      <p:sp>
        <p:nvSpPr>
          <p:cNvPr id="22" name="Text 19"/>
          <p:cNvSpPr txBox="1"/>
          <p:nvPr/>
        </p:nvSpPr>
        <p:spPr>
          <a:xfrm>
            <a:off x="8595360" y="3474720"/>
            <a:ext cx="2862072" cy="731520"/>
          </a:xfrm>
          <a:prstGeom prst="rect">
            <a:avLst/>
          </a:prstGeom>
          <a:noFill/>
          <a:ln/>
        </p:spPr>
        <p:txBody>
          <a:bodyPr wrap="square" lIns="0" tIns="0" rIns="0" bIns="0" rtlCol="0" anchor="ctr"/>
          <a:lstStyle/>
          <a:p>
            <a:pPr indent="0" marL="0">
              <a:buNone/>
            </a:pPr>
            <a:r>
              <a:rPr lang="en-US" sz="3400" b="1" dirty="0">
                <a:solidFill>
                  <a:srgbClr val="E9C53D"/>
                </a:solidFill>
                <a:latin typeface="Arial" pitchFamily="34" charset="0"/>
                <a:ea typeface="Arial" pitchFamily="34" charset="-122"/>
                <a:cs typeface="Arial" pitchFamily="34" charset="-120"/>
              </a:rPr>
              <a:t>-44 %</a:t>
            </a:r>
            <a:endParaRPr lang="en-US" sz="3400" dirty="0"/>
          </a:p>
        </p:txBody>
      </p:sp>
      <p:sp>
        <p:nvSpPr>
          <p:cNvPr id="23" name="Text 20"/>
          <p:cNvSpPr txBox="1"/>
          <p:nvPr/>
        </p:nvSpPr>
        <p:spPr>
          <a:xfrm>
            <a:off x="8595360" y="4206240"/>
            <a:ext cx="2862072"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LA MOINS BIEN TRAITÉE</a:t>
            </a:r>
            <a:endParaRPr lang="en-US" sz="1100" dirty="0"/>
          </a:p>
        </p:txBody>
      </p:sp>
      <p:sp>
        <p:nvSpPr>
          <p:cNvPr id="24" name="Text 21"/>
          <p:cNvSpPr txBox="1"/>
          <p:nvPr/>
        </p:nvSpPr>
        <p:spPr>
          <a:xfrm>
            <a:off x="8595360" y="4507992"/>
            <a:ext cx="2862072"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Militaire non officier, génération 2000</a:t>
            </a:r>
            <a:endParaRPr lang="en-US" sz="1200" dirty="0"/>
          </a:p>
        </p:txBody>
      </p:sp>
      <p:sp>
        <p:nvSpPr>
          <p:cNvPr id="25" name="Text 22"/>
          <p:cNvSpPr txBox="1"/>
          <p:nvPr/>
        </p:nvSpPr>
        <p:spPr>
          <a:xfrm>
            <a:off x="8412480" y="5074920"/>
            <a:ext cx="3227832" cy="731520"/>
          </a:xfrm>
          <a:prstGeom prst="rect">
            <a:avLst/>
          </a:prstGeom>
          <a:noFill/>
          <a:ln/>
        </p:spPr>
        <p:txBody>
          <a:bodyPr wrap="square" lIns="0" tIns="0" rIns="0" bIns="0" rtlCol="0" anchor="t"/>
          <a:lstStyle/>
          <a:p>
            <a:pPr indent="0" marL="0">
              <a:buNone/>
            </a:pPr>
            <a:r>
              <a:rPr lang="en-US" sz="1400" i="1" dirty="0">
                <a:solidFill>
                  <a:srgbClr val="F4EFE4"/>
                </a:solidFill>
                <a:latin typeface="Cambria" pitchFamily="34" charset="0"/>
                <a:ea typeface="Cambria" pitchFamily="34" charset="-122"/>
                <a:cs typeface="Cambria" pitchFamily="34" charset="-120"/>
              </a:rPr>
              <a:t>51 points les séparent, à carrière et à durée identiques.</a:t>
            </a:r>
            <a:endParaRPr lang="en-US" sz="1400" dirty="0"/>
          </a:p>
        </p:txBody>
      </p:sp>
      <p:sp>
        <p:nvSpPr>
          <p:cNvPr id="26" name="Text 2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27" name="Text 2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 COÛT</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CE QUI RENTRE, CE QUI SORT, CE QUI MANQUE</a:t>
            </a:r>
            <a:endParaRPr lang="en-US" sz="3000" dirty="0"/>
          </a:p>
        </p:txBody>
      </p:sp>
      <p:sp>
        <p:nvSpPr>
          <p:cNvPr id="5" name="Shape 2"/>
          <p:cNvSpPr/>
          <p:nvPr/>
        </p:nvSpPr>
        <p:spPr>
          <a:xfrm>
            <a:off x="548640" y="1600200"/>
            <a:ext cx="3840480" cy="1600200"/>
          </a:xfrm>
          <a:prstGeom prst="rect">
            <a:avLst/>
          </a:prstGeom>
          <a:solidFill>
            <a:srgbClr val="0F4A46"/>
          </a:solidFill>
          <a:ln w="9525">
            <a:solidFill>
              <a:srgbClr val="2F6360"/>
            </a:solidFill>
            <a:prstDash val="solid"/>
          </a:ln>
        </p:spPr>
      </p:sp>
      <p:sp>
        <p:nvSpPr>
          <p:cNvPr id="6" name="Text 3"/>
          <p:cNvSpPr txBox="1"/>
          <p:nvPr/>
        </p:nvSpPr>
        <p:spPr>
          <a:xfrm>
            <a:off x="731520" y="1737360"/>
            <a:ext cx="3474720" cy="731520"/>
          </a:xfrm>
          <a:prstGeom prst="rect">
            <a:avLst/>
          </a:prstGeom>
          <a:noFill/>
          <a:ln/>
        </p:spPr>
        <p:txBody>
          <a:bodyPr wrap="square" lIns="0" tIns="0" rIns="0" bIns="0" rtlCol="0" anchor="ctr"/>
          <a:lstStyle/>
          <a:p>
            <a:pPr indent="0" marL="0">
              <a:buNone/>
            </a:pPr>
            <a:r>
              <a:rPr lang="en-US" sz="3400" b="1" dirty="0">
                <a:solidFill>
                  <a:srgbClr val="E9C53D"/>
                </a:solidFill>
                <a:latin typeface="Arial" pitchFamily="34" charset="0"/>
                <a:ea typeface="Arial" pitchFamily="34" charset="-122"/>
                <a:cs typeface="Arial" pitchFamily="34" charset="-120"/>
              </a:rPr>
              <a:t>422 Md €</a:t>
            </a:r>
            <a:endParaRPr lang="en-US" sz="3400" dirty="0"/>
          </a:p>
        </p:txBody>
      </p:sp>
      <p:sp>
        <p:nvSpPr>
          <p:cNvPr id="7" name="Text 4"/>
          <p:cNvSpPr txBox="1"/>
          <p:nvPr/>
        </p:nvSpPr>
        <p:spPr>
          <a:xfrm>
            <a:off x="731520" y="2468880"/>
            <a:ext cx="3474720"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VERSÉ AUX RETRAITÉS EN 2025</a:t>
            </a:r>
            <a:endParaRPr lang="en-US" sz="1100" dirty="0"/>
          </a:p>
        </p:txBody>
      </p:sp>
      <p:sp>
        <p:nvSpPr>
          <p:cNvPr id="8" name="Text 5"/>
          <p:cNvSpPr txBox="1"/>
          <p:nvPr/>
        </p:nvSpPr>
        <p:spPr>
          <a:xfrm>
            <a:off x="731520" y="2770632"/>
            <a:ext cx="3474720"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à 17,3 millions de personnes</a:t>
            </a:r>
            <a:endParaRPr lang="en-US" sz="1200" dirty="0"/>
          </a:p>
        </p:txBody>
      </p:sp>
      <p:sp>
        <p:nvSpPr>
          <p:cNvPr id="9" name="Shape 6"/>
          <p:cNvSpPr/>
          <p:nvPr/>
        </p:nvSpPr>
        <p:spPr>
          <a:xfrm>
            <a:off x="548640" y="3291840"/>
            <a:ext cx="3840480" cy="1600200"/>
          </a:xfrm>
          <a:prstGeom prst="rect">
            <a:avLst/>
          </a:prstGeom>
          <a:solidFill>
            <a:srgbClr val="0F4A46"/>
          </a:solidFill>
          <a:ln w="9525">
            <a:solidFill>
              <a:srgbClr val="2F6360"/>
            </a:solidFill>
            <a:prstDash val="solid"/>
          </a:ln>
        </p:spPr>
      </p:sp>
      <p:sp>
        <p:nvSpPr>
          <p:cNvPr id="10" name="Text 7"/>
          <p:cNvSpPr txBox="1"/>
          <p:nvPr/>
        </p:nvSpPr>
        <p:spPr>
          <a:xfrm>
            <a:off x="731520" y="3429000"/>
            <a:ext cx="3474720" cy="731520"/>
          </a:xfrm>
          <a:prstGeom prst="rect">
            <a:avLst/>
          </a:prstGeom>
          <a:noFill/>
          <a:ln/>
        </p:spPr>
        <p:txBody>
          <a:bodyPr wrap="square" lIns="0" tIns="0" rIns="0" bIns="0" rtlCol="0" anchor="ctr"/>
          <a:lstStyle/>
          <a:p>
            <a:pPr indent="0" marL="0">
              <a:buNone/>
            </a:pPr>
            <a:r>
              <a:rPr lang="en-US" sz="3400" b="1" dirty="0">
                <a:solidFill>
                  <a:srgbClr val="E9C53D"/>
                </a:solidFill>
                <a:latin typeface="Arial" pitchFamily="34" charset="0"/>
                <a:ea typeface="Arial" pitchFamily="34" charset="-122"/>
                <a:cs typeface="Arial" pitchFamily="34" charset="-120"/>
              </a:rPr>
              <a:t>417 Md €</a:t>
            </a:r>
            <a:endParaRPr lang="en-US" sz="3400" dirty="0"/>
          </a:p>
        </p:txBody>
      </p:sp>
      <p:sp>
        <p:nvSpPr>
          <p:cNvPr id="11" name="Text 8"/>
          <p:cNvSpPr txBox="1"/>
          <p:nvPr/>
        </p:nvSpPr>
        <p:spPr>
          <a:xfrm>
            <a:off x="731520" y="4160520"/>
            <a:ext cx="3474720"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ENCAISSÉ POUR LE PAYER</a:t>
            </a:r>
            <a:endParaRPr lang="en-US" sz="1100" dirty="0"/>
          </a:p>
        </p:txBody>
      </p:sp>
      <p:sp>
        <p:nvSpPr>
          <p:cNvPr id="12" name="Text 9"/>
          <p:cNvSpPr txBox="1"/>
          <p:nvPr/>
        </p:nvSpPr>
        <p:spPr>
          <a:xfrm>
            <a:off x="731520" y="4462272"/>
            <a:ext cx="3474720"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cotisations et impôts</a:t>
            </a:r>
            <a:endParaRPr lang="en-US" sz="1200" dirty="0"/>
          </a:p>
        </p:txBody>
      </p:sp>
      <p:sp>
        <p:nvSpPr>
          <p:cNvPr id="13" name="Shape 10"/>
          <p:cNvSpPr/>
          <p:nvPr/>
        </p:nvSpPr>
        <p:spPr>
          <a:xfrm>
            <a:off x="548640" y="4983480"/>
            <a:ext cx="3840480" cy="1600200"/>
          </a:xfrm>
          <a:prstGeom prst="rect">
            <a:avLst/>
          </a:prstGeom>
          <a:solidFill>
            <a:srgbClr val="0F4A46"/>
          </a:solidFill>
          <a:ln w="9525">
            <a:solidFill>
              <a:srgbClr val="2F6360"/>
            </a:solidFill>
            <a:prstDash val="solid"/>
          </a:ln>
        </p:spPr>
      </p:sp>
      <p:sp>
        <p:nvSpPr>
          <p:cNvPr id="14" name="Text 11"/>
          <p:cNvSpPr txBox="1"/>
          <p:nvPr/>
        </p:nvSpPr>
        <p:spPr>
          <a:xfrm>
            <a:off x="731520" y="5120640"/>
            <a:ext cx="3474720" cy="731520"/>
          </a:xfrm>
          <a:prstGeom prst="rect">
            <a:avLst/>
          </a:prstGeom>
          <a:noFill/>
          <a:ln/>
        </p:spPr>
        <p:txBody>
          <a:bodyPr wrap="square" lIns="0" tIns="0" rIns="0" bIns="0" rtlCol="0" anchor="ctr"/>
          <a:lstStyle/>
          <a:p>
            <a:pPr indent="0" marL="0">
              <a:buNone/>
            </a:pPr>
            <a:r>
              <a:rPr lang="en-US" sz="3400" b="1" dirty="0">
                <a:solidFill>
                  <a:srgbClr val="E9C53D"/>
                </a:solidFill>
                <a:latin typeface="Arial" pitchFamily="34" charset="0"/>
                <a:ea typeface="Arial" pitchFamily="34" charset="-122"/>
                <a:cs typeface="Arial" pitchFamily="34" charset="-120"/>
              </a:rPr>
              <a:t>5,1 Md €</a:t>
            </a:r>
            <a:endParaRPr lang="en-US" sz="3400" dirty="0"/>
          </a:p>
        </p:txBody>
      </p:sp>
      <p:sp>
        <p:nvSpPr>
          <p:cNvPr id="15" name="Text 12"/>
          <p:cNvSpPr txBox="1"/>
          <p:nvPr/>
        </p:nvSpPr>
        <p:spPr>
          <a:xfrm>
            <a:off x="731520" y="5852160"/>
            <a:ext cx="3474720"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MANQUANT</a:t>
            </a:r>
            <a:endParaRPr lang="en-US" sz="1100" dirty="0"/>
          </a:p>
        </p:txBody>
      </p:sp>
      <p:sp>
        <p:nvSpPr>
          <p:cNvPr id="16" name="Text 13"/>
          <p:cNvSpPr txBox="1"/>
          <p:nvPr/>
        </p:nvSpPr>
        <p:spPr>
          <a:xfrm>
            <a:off x="731520" y="6153912"/>
            <a:ext cx="3474720"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1,2 % de la facture ; 16 % en 2070 sans rien changer</a:t>
            </a:r>
            <a:endParaRPr lang="en-US" sz="1200" dirty="0"/>
          </a:p>
        </p:txBody>
      </p:sp>
      <p:pic>
        <p:nvPicPr>
          <p:cNvPr id="17" name="Image 0" descr="/tmp/claude-0/-home-user-retraitecomptenotionelle/a76803f7-4b55-5595-a5c7-976d4a1e9c11/scratchpad/cap/cout-bilan-c.png">    </p:cNvPr>
          <p:cNvPicPr>
            <a:picLocks noChangeAspect="1"/>
          </p:cNvPicPr>
          <p:nvPr/>
        </p:nvPicPr>
        <p:blipFill>
          <a:blip r:embed="rId1"/>
          <a:stretch>
            <a:fillRect/>
          </a:stretch>
        </p:blipFill>
        <p:spPr>
          <a:xfrm>
            <a:off x="4663440" y="1600200"/>
            <a:ext cx="6976872" cy="4273334"/>
          </a:xfrm>
          <a:prstGeom prst="rect">
            <a:avLst/>
          </a:prstGeom>
        </p:spPr>
      </p:pic>
      <p:sp>
        <p:nvSpPr>
          <p:cNvPr id="18" name="Text 14"/>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19" name="Text 1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 COÛT</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QUI PAIE ?</a:t>
            </a:r>
            <a:endParaRPr lang="en-US" sz="3000" dirty="0"/>
          </a:p>
        </p:txBody>
      </p:sp>
      <p:sp>
        <p:nvSpPr>
          <p:cNvPr id="5" name="Text 2"/>
          <p:cNvSpPr txBox="1"/>
          <p:nvPr/>
        </p:nvSpPr>
        <p:spPr>
          <a:xfrm>
            <a:off x="548640" y="1600200"/>
            <a:ext cx="3840480" cy="1463040"/>
          </a:xfrm>
          <a:prstGeom prst="rect">
            <a:avLst/>
          </a:prstGeom>
          <a:noFill/>
          <a:ln/>
        </p:spPr>
        <p:txBody>
          <a:bodyPr wrap="square" lIns="0" tIns="0" rIns="0" bIns="0" rtlCol="0" anchor="t"/>
          <a:lstStyle/>
          <a:p>
            <a:pPr indent="0" marL="0">
              <a:buNone/>
            </a:pPr>
            <a:r>
              <a:rPr lang="en-US" sz="2000" b="1" dirty="0">
                <a:solidFill>
                  <a:srgbClr val="F4EFE4"/>
                </a:solidFill>
                <a:latin typeface="Cambria" pitchFamily="34" charset="0"/>
                <a:ea typeface="Cambria" pitchFamily="34" charset="-122"/>
                <a:cs typeface="Cambria" pitchFamily="34" charset="-120"/>
              </a:rPr>
              <a:t>Les salaires, pour 77 %. </a:t>
            </a:r>
            <a:pPr indent="0" marL="0">
              <a:buNone/>
            </a:pPr>
            <a:r>
              <a:rPr lang="en-US" sz="2000" dirty="0">
                <a:solidFill>
                  <a:srgbClr val="C3D8D4"/>
                </a:solidFill>
                <a:latin typeface="Cambria" pitchFamily="34" charset="0"/>
                <a:ea typeface="Cambria" pitchFamily="34" charset="-122"/>
                <a:cs typeface="Cambria" pitchFamily="34" charset="-120"/>
              </a:rPr>
              <a:t>Le reste vient surtout de l'impôt, et cette part a doublé en vingt ans.</a:t>
            </a:r>
            <a:endParaRPr lang="en-US" sz="2000" dirty="0"/>
          </a:p>
        </p:txBody>
      </p:sp>
      <p:sp>
        <p:nvSpPr>
          <p:cNvPr id="6" name="Shape 3"/>
          <p:cNvSpPr/>
          <p:nvPr/>
        </p:nvSpPr>
        <p:spPr>
          <a:xfrm>
            <a:off x="548640" y="3200400"/>
            <a:ext cx="3840480" cy="1600200"/>
          </a:xfrm>
          <a:prstGeom prst="rect">
            <a:avLst/>
          </a:prstGeom>
          <a:solidFill>
            <a:srgbClr val="0F4A46"/>
          </a:solidFill>
          <a:ln w="9525">
            <a:solidFill>
              <a:srgbClr val="2F6360"/>
            </a:solidFill>
            <a:prstDash val="solid"/>
          </a:ln>
        </p:spPr>
      </p:sp>
      <p:sp>
        <p:nvSpPr>
          <p:cNvPr id="7" name="Text 4"/>
          <p:cNvSpPr txBox="1"/>
          <p:nvPr/>
        </p:nvSpPr>
        <p:spPr>
          <a:xfrm>
            <a:off x="731520" y="3337560"/>
            <a:ext cx="3474720" cy="731520"/>
          </a:xfrm>
          <a:prstGeom prst="rect">
            <a:avLst/>
          </a:prstGeom>
          <a:noFill/>
          <a:ln/>
        </p:spPr>
        <p:txBody>
          <a:bodyPr wrap="square" lIns="0" tIns="0" rIns="0" bIns="0" rtlCol="0" anchor="ctr"/>
          <a:lstStyle/>
          <a:p>
            <a:pPr indent="0" marL="0">
              <a:buNone/>
            </a:pPr>
            <a:r>
              <a:rPr lang="en-US" sz="3000" b="1" dirty="0">
                <a:solidFill>
                  <a:srgbClr val="E9C53D"/>
                </a:solidFill>
                <a:latin typeface="Arial" pitchFamily="34" charset="0"/>
                <a:ea typeface="Arial" pitchFamily="34" charset="-122"/>
                <a:cs typeface="Arial" pitchFamily="34" charset="-120"/>
              </a:rPr>
              <a:t>7 % → 15 %</a:t>
            </a:r>
            <a:endParaRPr lang="en-US" sz="3000" dirty="0"/>
          </a:p>
        </p:txBody>
      </p:sp>
      <p:sp>
        <p:nvSpPr>
          <p:cNvPr id="8" name="Text 5"/>
          <p:cNvSpPr txBox="1"/>
          <p:nvPr/>
        </p:nvSpPr>
        <p:spPr>
          <a:xfrm>
            <a:off x="731520" y="4069080"/>
            <a:ext cx="3474720"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LA PART DE L'IMPÔT</a:t>
            </a:r>
            <a:endParaRPr lang="en-US" sz="1100" dirty="0"/>
          </a:p>
        </p:txBody>
      </p:sp>
      <p:sp>
        <p:nvSpPr>
          <p:cNvPr id="9" name="Text 6"/>
          <p:cNvSpPr txBox="1"/>
          <p:nvPr/>
        </p:nvSpPr>
        <p:spPr>
          <a:xfrm>
            <a:off x="731520" y="4370832"/>
            <a:ext cx="3474720"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2004 → 2025, en part des ressources</a:t>
            </a:r>
            <a:endParaRPr lang="en-US" sz="1200" dirty="0"/>
          </a:p>
        </p:txBody>
      </p:sp>
      <p:sp>
        <p:nvSpPr>
          <p:cNvPr id="10" name="Text 7"/>
          <p:cNvSpPr txBox="1"/>
          <p:nvPr/>
        </p:nvSpPr>
        <p:spPr>
          <a:xfrm>
            <a:off x="548640" y="5029200"/>
            <a:ext cx="3840480" cy="731520"/>
          </a:xfrm>
          <a:prstGeom prst="rect">
            <a:avLst/>
          </a:prstGeom>
          <a:noFill/>
          <a:ln/>
        </p:spPr>
        <p:txBody>
          <a:bodyPr wrap="square" lIns="0" tIns="0" rIns="0" bIns="0" rtlCol="0" anchor="t"/>
          <a:lstStyle/>
          <a:p>
            <a:pPr indent="0" marL="0">
              <a:buNone/>
            </a:pPr>
            <a:r>
              <a:rPr lang="en-US" sz="1100" i="1" dirty="0">
                <a:solidFill>
                  <a:srgbClr val="A7C3BF"/>
                </a:solidFill>
                <a:latin typeface="Calibri" pitchFamily="34" charset="0"/>
                <a:ea typeface="Calibri" pitchFamily="34" charset="-122"/>
                <a:cs typeface="Calibri" pitchFamily="34" charset="-120"/>
              </a:rPr>
              <a:t>Source : Conseil d'orientation des retraites. Ce détail n'est publié que de 2004 à 2025.</a:t>
            </a:r>
            <a:endParaRPr lang="en-US" sz="1100" dirty="0"/>
          </a:p>
        </p:txBody>
      </p:sp>
      <p:pic>
        <p:nvPicPr>
          <p:cNvPr id="11" name="Image 0" descr="/tmp/claude-0/-home-user-retraitecomptenotionelle/a76803f7-4b55-5595-a5c7-976d4a1e9c11/scratchpad/cap/cout-provenance-c.png">    </p:cNvPr>
          <p:cNvPicPr>
            <a:picLocks noChangeAspect="1"/>
          </p:cNvPicPr>
          <p:nvPr/>
        </p:nvPicPr>
        <p:blipFill>
          <a:blip r:embed="rId1"/>
          <a:stretch>
            <a:fillRect/>
          </a:stretch>
        </p:blipFill>
        <p:spPr>
          <a:xfrm>
            <a:off x="5375358" y="1600200"/>
            <a:ext cx="5553036" cy="4572000"/>
          </a:xfrm>
          <a:prstGeom prst="rect">
            <a:avLst/>
          </a:prstGeom>
        </p:spPr>
      </p:pic>
      <p:sp>
        <p:nvSpPr>
          <p:cNvPr id="12" name="Text 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13" name="Text 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LES AVANTAGES</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2500" b="1" dirty="0">
                <a:solidFill>
                  <a:srgbClr val="F4EFE4"/>
                </a:solidFill>
                <a:latin typeface="Arial" pitchFamily="34" charset="0"/>
                <a:ea typeface="Arial" pitchFamily="34" charset="-122"/>
                <a:cs typeface="Arial" pitchFamily="34" charset="-120"/>
              </a:rPr>
              <a:t>CE QUE LA RETRAITE VERSE SANS QU'ON L'AIT COTISÉ</a:t>
            </a:r>
            <a:endParaRPr lang="en-US" sz="2500" dirty="0"/>
          </a:p>
        </p:txBody>
      </p:sp>
      <p:sp>
        <p:nvSpPr>
          <p:cNvPr id="5" name="Shape 2"/>
          <p:cNvSpPr/>
          <p:nvPr/>
        </p:nvSpPr>
        <p:spPr>
          <a:xfrm>
            <a:off x="548640" y="1554480"/>
            <a:ext cx="3515258" cy="1600200"/>
          </a:xfrm>
          <a:prstGeom prst="rect">
            <a:avLst/>
          </a:prstGeom>
          <a:solidFill>
            <a:srgbClr val="0F4A46"/>
          </a:solidFill>
          <a:ln w="9525">
            <a:solidFill>
              <a:srgbClr val="2F6360"/>
            </a:solidFill>
            <a:prstDash val="solid"/>
          </a:ln>
        </p:spPr>
      </p:sp>
      <p:sp>
        <p:nvSpPr>
          <p:cNvPr id="6" name="Text 3"/>
          <p:cNvSpPr txBox="1"/>
          <p:nvPr/>
        </p:nvSpPr>
        <p:spPr>
          <a:xfrm>
            <a:off x="731520" y="169164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43</a:t>
            </a:r>
            <a:endParaRPr lang="en-US" sz="3600" dirty="0"/>
          </a:p>
        </p:txBody>
      </p:sp>
      <p:sp>
        <p:nvSpPr>
          <p:cNvPr id="7" name="Text 4"/>
          <p:cNvSpPr txBox="1"/>
          <p:nvPr/>
        </p:nvSpPr>
        <p:spPr>
          <a:xfrm>
            <a:off x="731520" y="242316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AVANTAGES NON CONTRIBUTIFS</a:t>
            </a:r>
            <a:endParaRPr lang="en-US" sz="1100" dirty="0"/>
          </a:p>
        </p:txBody>
      </p:sp>
      <p:sp>
        <p:nvSpPr>
          <p:cNvPr id="8" name="Text 5"/>
          <p:cNvSpPr txBox="1"/>
          <p:nvPr/>
        </p:nvSpPr>
        <p:spPr>
          <a:xfrm>
            <a:off x="731520" y="272491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du minimum vieillesse à la bonification du cinquième ; un seul en 1831</a:t>
            </a:r>
            <a:endParaRPr lang="en-US" sz="1200" dirty="0"/>
          </a:p>
        </p:txBody>
      </p:sp>
      <p:sp>
        <p:nvSpPr>
          <p:cNvPr id="9" name="Shape 6"/>
          <p:cNvSpPr/>
          <p:nvPr/>
        </p:nvSpPr>
        <p:spPr>
          <a:xfrm>
            <a:off x="4338218" y="1554480"/>
            <a:ext cx="3515258" cy="1600200"/>
          </a:xfrm>
          <a:prstGeom prst="rect">
            <a:avLst/>
          </a:prstGeom>
          <a:solidFill>
            <a:srgbClr val="0F4A46"/>
          </a:solidFill>
          <a:ln w="9525">
            <a:solidFill>
              <a:srgbClr val="2F6360"/>
            </a:solidFill>
            <a:prstDash val="solid"/>
          </a:ln>
        </p:spPr>
      </p:sp>
      <p:sp>
        <p:nvSpPr>
          <p:cNvPr id="10" name="Text 7"/>
          <p:cNvSpPr txBox="1"/>
          <p:nvPr/>
        </p:nvSpPr>
        <p:spPr>
          <a:xfrm>
            <a:off x="4521098" y="169164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96,2 Md €</a:t>
            </a:r>
            <a:endParaRPr lang="en-US" sz="3600" dirty="0"/>
          </a:p>
        </p:txBody>
      </p:sp>
      <p:sp>
        <p:nvSpPr>
          <p:cNvPr id="11" name="Text 8"/>
          <p:cNvSpPr txBox="1"/>
          <p:nvPr/>
        </p:nvSpPr>
        <p:spPr>
          <a:xfrm>
            <a:off x="4521098" y="242316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CE QUE LE MODÈLE SAIT CHIFFRER</a:t>
            </a:r>
            <a:endParaRPr lang="en-US" sz="1100" dirty="0"/>
          </a:p>
        </p:txBody>
      </p:sp>
      <p:sp>
        <p:nvSpPr>
          <p:cNvPr id="12" name="Text 9"/>
          <p:cNvSpPr txBox="1"/>
          <p:nvPr/>
        </p:nvSpPr>
        <p:spPr>
          <a:xfrm>
            <a:off x="4521098" y="272491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18 d'entre eux, en 2024, dont 38,3 Md € de réversion</a:t>
            </a:r>
            <a:endParaRPr lang="en-US" sz="1200" dirty="0"/>
          </a:p>
        </p:txBody>
      </p:sp>
      <p:sp>
        <p:nvSpPr>
          <p:cNvPr id="13" name="Shape 10"/>
          <p:cNvSpPr/>
          <p:nvPr/>
        </p:nvSpPr>
        <p:spPr>
          <a:xfrm>
            <a:off x="8127797" y="1554480"/>
            <a:ext cx="3515258" cy="1600200"/>
          </a:xfrm>
          <a:prstGeom prst="rect">
            <a:avLst/>
          </a:prstGeom>
          <a:solidFill>
            <a:srgbClr val="0F4A46"/>
          </a:solidFill>
          <a:ln w="9525">
            <a:solidFill>
              <a:srgbClr val="2F6360"/>
            </a:solidFill>
            <a:prstDash val="solid"/>
          </a:ln>
        </p:spPr>
      </p:sp>
      <p:sp>
        <p:nvSpPr>
          <p:cNvPr id="14" name="Text 11"/>
          <p:cNvSpPr txBox="1"/>
          <p:nvPr/>
        </p:nvSpPr>
        <p:spPr>
          <a:xfrm>
            <a:off x="8310677" y="169164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12,8 Md €</a:t>
            </a:r>
            <a:endParaRPr lang="en-US" sz="3600" dirty="0"/>
          </a:p>
        </p:txBody>
      </p:sp>
      <p:sp>
        <p:nvSpPr>
          <p:cNvPr id="15" name="Text 12"/>
          <p:cNvSpPr txBox="1"/>
          <p:nvPr/>
        </p:nvSpPr>
        <p:spPr>
          <a:xfrm>
            <a:off x="8310677" y="242316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SERVI AVANT L'ÂGE LÉGAL</a:t>
            </a:r>
            <a:endParaRPr lang="en-US" sz="1100" dirty="0"/>
          </a:p>
        </p:txBody>
      </p:sp>
      <p:sp>
        <p:nvSpPr>
          <p:cNvPr id="16" name="Text 13"/>
          <p:cNvSpPr txBox="1"/>
          <p:nvPr/>
        </p:nvSpPr>
        <p:spPr>
          <a:xfrm>
            <a:off x="8310677" y="272491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3,0 % de la dépense, que nulle décote ne rattrape</a:t>
            </a:r>
            <a:endParaRPr lang="en-US" sz="1200" dirty="0"/>
          </a:p>
        </p:txBody>
      </p:sp>
      <p:pic>
        <p:nvPicPr>
          <p:cNvPr id="17" name="Image 0" descr="/tmp/claude-0/-home-user-retraitecomptenotionelle/a76803f7-4b55-5595-a5c7-976d4a1e9c11/scratchpad/cap/avantages-frise-c.png">    </p:cNvPr>
          <p:cNvPicPr>
            <a:picLocks noChangeAspect="1"/>
          </p:cNvPicPr>
          <p:nvPr/>
        </p:nvPicPr>
        <p:blipFill>
          <a:blip r:embed="rId1"/>
          <a:stretch>
            <a:fillRect/>
          </a:stretch>
        </p:blipFill>
        <p:spPr>
          <a:xfrm>
            <a:off x="3623104" y="3383280"/>
            <a:ext cx="4945487" cy="2926080"/>
          </a:xfrm>
          <a:prstGeom prst="rect">
            <a:avLst/>
          </a:prstGeom>
        </p:spPr>
      </p:pic>
      <p:sp>
        <p:nvSpPr>
          <p:cNvPr id="18" name="Text 14"/>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19" name="Text 1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LES DONNÉES</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RIEN ICI N'EST À CROIRE SUR PAROLE</a:t>
            </a:r>
            <a:endParaRPr lang="en-US" sz="3000" dirty="0"/>
          </a:p>
        </p:txBody>
      </p:sp>
      <p:sp>
        <p:nvSpPr>
          <p:cNvPr id="5" name="Text 2"/>
          <p:cNvSpPr txBox="1"/>
          <p:nvPr/>
        </p:nvSpPr>
        <p:spPr>
          <a:xfrm>
            <a:off x="548640" y="1463040"/>
            <a:ext cx="11094415" cy="640080"/>
          </a:xfrm>
          <a:prstGeom prst="rect">
            <a:avLst/>
          </a:prstGeom>
          <a:noFill/>
          <a:ln/>
        </p:spPr>
        <p:txBody>
          <a:bodyPr wrap="square" lIns="0" tIns="0" rIns="0" bIns="0" rtlCol="0" anchor="ctr"/>
          <a:lstStyle/>
          <a:p>
            <a:pPr indent="0" marL="0">
              <a:buNone/>
            </a:pPr>
            <a:r>
              <a:rPr lang="en-US" sz="1800" dirty="0">
                <a:solidFill>
                  <a:srgbClr val="C3D8D4"/>
                </a:solidFill>
                <a:latin typeface="Cambria" pitchFamily="34" charset="0"/>
                <a:ea typeface="Cambria" pitchFamily="34" charset="-122"/>
                <a:cs typeface="Cambria" pitchFamily="34" charset="-120"/>
              </a:rPr>
              <a:t>Chaque série est recontrôlée, automatiquement, contre le fichier de l'institution qui la produit. Ce qui ne l'est pas est dit.</a:t>
            </a:r>
            <a:endParaRPr lang="en-US" sz="1800" dirty="0"/>
          </a:p>
        </p:txBody>
      </p:sp>
      <p:sp>
        <p:nvSpPr>
          <p:cNvPr id="6" name="Shape 3"/>
          <p:cNvSpPr/>
          <p:nvPr/>
        </p:nvSpPr>
        <p:spPr>
          <a:xfrm>
            <a:off x="548640" y="2286000"/>
            <a:ext cx="3515258" cy="1600200"/>
          </a:xfrm>
          <a:prstGeom prst="rect">
            <a:avLst/>
          </a:prstGeom>
          <a:solidFill>
            <a:srgbClr val="0F4A46"/>
          </a:solidFill>
          <a:ln w="9525">
            <a:solidFill>
              <a:srgbClr val="2F6360"/>
            </a:solidFill>
            <a:prstDash val="solid"/>
          </a:ln>
        </p:spPr>
      </p:sp>
      <p:sp>
        <p:nvSpPr>
          <p:cNvPr id="7" name="Text 4"/>
          <p:cNvSpPr txBox="1"/>
          <p:nvPr/>
        </p:nvSpPr>
        <p:spPr>
          <a:xfrm>
            <a:off x="731520" y="242316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41 271</a:t>
            </a:r>
            <a:endParaRPr lang="en-US" sz="3600" dirty="0"/>
          </a:p>
        </p:txBody>
      </p:sp>
      <p:sp>
        <p:nvSpPr>
          <p:cNvPr id="8" name="Text 5"/>
          <p:cNvSpPr txBox="1"/>
          <p:nvPr/>
        </p:nvSpPr>
        <p:spPr>
          <a:xfrm>
            <a:off x="731520" y="315468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VALEURS RECONTRÔLÉES</a:t>
            </a:r>
            <a:endParaRPr lang="en-US" sz="1100" dirty="0"/>
          </a:p>
        </p:txBody>
      </p:sp>
      <p:sp>
        <p:nvSpPr>
          <p:cNvPr id="9" name="Text 6"/>
          <p:cNvSpPr txBox="1"/>
          <p:nvPr/>
        </p:nvSpPr>
        <p:spPr>
          <a:xfrm>
            <a:off x="731520" y="345643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sur 96 séries, contre leur source</a:t>
            </a:r>
            <a:endParaRPr lang="en-US" sz="1200" dirty="0"/>
          </a:p>
        </p:txBody>
      </p:sp>
      <p:sp>
        <p:nvSpPr>
          <p:cNvPr id="10" name="Shape 7"/>
          <p:cNvSpPr/>
          <p:nvPr/>
        </p:nvSpPr>
        <p:spPr>
          <a:xfrm>
            <a:off x="4338218" y="2286000"/>
            <a:ext cx="3515258" cy="1600200"/>
          </a:xfrm>
          <a:prstGeom prst="rect">
            <a:avLst/>
          </a:prstGeom>
          <a:solidFill>
            <a:srgbClr val="0F4A46"/>
          </a:solidFill>
          <a:ln w="9525">
            <a:solidFill>
              <a:srgbClr val="2F6360"/>
            </a:solidFill>
            <a:prstDash val="solid"/>
          </a:ln>
        </p:spPr>
      </p:sp>
      <p:sp>
        <p:nvSpPr>
          <p:cNvPr id="11" name="Text 8"/>
          <p:cNvSpPr txBox="1"/>
          <p:nvPr/>
        </p:nvSpPr>
        <p:spPr>
          <a:xfrm>
            <a:off x="4521098" y="242316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89</a:t>
            </a:r>
            <a:endParaRPr lang="en-US" sz="3600" dirty="0"/>
          </a:p>
        </p:txBody>
      </p:sp>
      <p:sp>
        <p:nvSpPr>
          <p:cNvPr id="12" name="Text 9"/>
          <p:cNvSpPr txBox="1"/>
          <p:nvPr/>
        </p:nvSpPr>
        <p:spPr>
          <a:xfrm>
            <a:off x="4521098" y="315468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RÉGIMES RECENSÉS</a:t>
            </a:r>
            <a:endParaRPr lang="en-US" sz="1100" dirty="0"/>
          </a:p>
        </p:txBody>
      </p:sp>
      <p:sp>
        <p:nvSpPr>
          <p:cNvPr id="13" name="Text 10"/>
          <p:cNvSpPr txBox="1"/>
          <p:nvPr/>
        </p:nvSpPr>
        <p:spPr>
          <a:xfrm>
            <a:off x="4521098" y="345643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dont 72 calculés, règles lues dans les textes</a:t>
            </a:r>
            <a:endParaRPr lang="en-US" sz="1200" dirty="0"/>
          </a:p>
        </p:txBody>
      </p:sp>
      <p:sp>
        <p:nvSpPr>
          <p:cNvPr id="14" name="Shape 11"/>
          <p:cNvSpPr/>
          <p:nvPr/>
        </p:nvSpPr>
        <p:spPr>
          <a:xfrm>
            <a:off x="8127797" y="2286000"/>
            <a:ext cx="3515258" cy="1600200"/>
          </a:xfrm>
          <a:prstGeom prst="rect">
            <a:avLst/>
          </a:prstGeom>
          <a:solidFill>
            <a:srgbClr val="0F4A46"/>
          </a:solidFill>
          <a:ln w="9525">
            <a:solidFill>
              <a:srgbClr val="2F6360"/>
            </a:solidFill>
            <a:prstDash val="solid"/>
          </a:ln>
        </p:spPr>
      </p:sp>
      <p:sp>
        <p:nvSpPr>
          <p:cNvPr id="15" name="Text 12"/>
          <p:cNvSpPr txBox="1"/>
          <p:nvPr/>
        </p:nvSpPr>
        <p:spPr>
          <a:xfrm>
            <a:off x="8310677" y="2423160"/>
            <a:ext cx="3149498" cy="731520"/>
          </a:xfrm>
          <a:prstGeom prst="rect">
            <a:avLst/>
          </a:prstGeom>
          <a:noFill/>
          <a:ln/>
        </p:spPr>
        <p:txBody>
          <a:bodyPr wrap="square" lIns="0" tIns="0" rIns="0" bIns="0" rtlCol="0" anchor="ctr"/>
          <a:lstStyle/>
          <a:p>
            <a:pPr indent="0" marL="0">
              <a:buNone/>
            </a:pPr>
            <a:r>
              <a:rPr lang="en-US" sz="3600" b="1" dirty="0">
                <a:solidFill>
                  <a:srgbClr val="E9C53D"/>
                </a:solidFill>
                <a:latin typeface="Arial" pitchFamily="34" charset="0"/>
                <a:ea typeface="Arial" pitchFamily="34" charset="-122"/>
                <a:cs typeface="Arial" pitchFamily="34" charset="-120"/>
              </a:rPr>
              <a:t>28</a:t>
            </a:r>
            <a:endParaRPr lang="en-US" sz="3600" dirty="0"/>
          </a:p>
        </p:txBody>
      </p:sp>
      <p:sp>
        <p:nvSpPr>
          <p:cNvPr id="16" name="Text 13"/>
          <p:cNvSpPr txBox="1"/>
          <p:nvPr/>
        </p:nvSpPr>
        <p:spPr>
          <a:xfrm>
            <a:off x="8310677" y="3154680"/>
            <a:ext cx="3149498" cy="320040"/>
          </a:xfrm>
          <a:prstGeom prst="rect">
            <a:avLst/>
          </a:prstGeom>
          <a:noFill/>
          <a:ln/>
        </p:spPr>
        <p:txBody>
          <a:bodyPr wrap="square" lIns="0" tIns="0" rIns="0" bIns="0" rtlCol="0" anchor="ctr"/>
          <a:lstStyle/>
          <a:p>
            <a:pPr indent="0" marL="0">
              <a:buNone/>
            </a:pPr>
            <a:r>
              <a:rPr lang="en-US" sz="1100" b="1" spc="150" kern="0" dirty="0">
                <a:solidFill>
                  <a:srgbClr val="F4EFE4"/>
                </a:solidFill>
                <a:latin typeface="Arial" pitchFamily="34" charset="0"/>
                <a:ea typeface="Arial" pitchFamily="34" charset="-122"/>
                <a:cs typeface="Arial" pitchFamily="34" charset="-120"/>
              </a:rPr>
              <a:t>INSTITUTIONS CITÉES</a:t>
            </a:r>
            <a:endParaRPr lang="en-US" sz="1100" dirty="0"/>
          </a:p>
        </p:txBody>
      </p:sp>
      <p:sp>
        <p:nvSpPr>
          <p:cNvPr id="17" name="Text 14"/>
          <p:cNvSpPr txBox="1"/>
          <p:nvPr/>
        </p:nvSpPr>
        <p:spPr>
          <a:xfrm>
            <a:off x="8310677" y="3456432"/>
            <a:ext cx="3149498" cy="365760"/>
          </a:xfrm>
          <a:prstGeom prst="rect">
            <a:avLst/>
          </a:prstGeom>
          <a:noFill/>
          <a:ln/>
        </p:spPr>
        <p:txBody>
          <a:bodyPr wrap="square" lIns="0" tIns="0" rIns="0" bIns="0" rtlCol="0" anchor="t"/>
          <a:lstStyle/>
          <a:p>
            <a:pPr indent="0" marL="0">
              <a:buNone/>
            </a:pPr>
            <a:r>
              <a:rPr lang="en-US" sz="1200" dirty="0">
                <a:solidFill>
                  <a:srgbClr val="C3D8D4"/>
                </a:solidFill>
                <a:latin typeface="Calibri" pitchFamily="34" charset="0"/>
                <a:ea typeface="Calibri" pitchFamily="34" charset="-122"/>
                <a:cs typeface="Calibri" pitchFamily="34" charset="-120"/>
              </a:rPr>
              <a:t>INSEE, COR, DREES, Cnav, Légifrance…</a:t>
            </a:r>
            <a:endParaRPr lang="en-US" sz="1200" dirty="0"/>
          </a:p>
        </p:txBody>
      </p:sp>
      <p:sp>
        <p:nvSpPr>
          <p:cNvPr id="18" name="Shape 15"/>
          <p:cNvSpPr/>
          <p:nvPr/>
        </p:nvSpPr>
        <p:spPr>
          <a:xfrm>
            <a:off x="548640" y="4251960"/>
            <a:ext cx="11094415" cy="1828800"/>
          </a:xfrm>
          <a:prstGeom prst="rect">
            <a:avLst/>
          </a:prstGeom>
          <a:solidFill>
            <a:srgbClr val="0F4A46"/>
          </a:solidFill>
          <a:ln w="9525">
            <a:solidFill>
              <a:srgbClr val="2F6360"/>
            </a:solidFill>
            <a:prstDash val="solid"/>
          </a:ln>
        </p:spPr>
      </p:sp>
      <p:sp>
        <p:nvSpPr>
          <p:cNvPr id="19" name="Text 16"/>
          <p:cNvSpPr txBox="1"/>
          <p:nvPr/>
        </p:nvSpPr>
        <p:spPr>
          <a:xfrm>
            <a:off x="822960" y="4434840"/>
            <a:ext cx="10545775" cy="1463040"/>
          </a:xfrm>
          <a:prstGeom prst="rect">
            <a:avLst/>
          </a:prstGeom>
          <a:noFill/>
          <a:ln/>
        </p:spPr>
        <p:txBody>
          <a:bodyPr wrap="square" lIns="0" tIns="0" rIns="0" bIns="0" rtlCol="0" anchor="t"/>
          <a:lstStyle/>
          <a:p>
            <a:pPr indent="0" marL="0">
              <a:buNone/>
            </a:pPr>
            <a:r>
              <a:rPr lang="en-US" sz="1600" b="1" dirty="0">
                <a:solidFill>
                  <a:srgbClr val="E9C53D"/>
                </a:solidFill>
                <a:latin typeface="Calibri" pitchFamily="34" charset="0"/>
                <a:ea typeface="Calibri" pitchFamily="34" charset="-122"/>
                <a:cs typeface="Calibri" pitchFamily="34" charset="-120"/>
              </a:rPr>
              <a:t>Modèle ouvert. </a:t>
            </a:r>
            <a:pPr indent="0" marL="0">
              <a:buNone/>
            </a:pPr>
            <a:r>
              <a:rPr lang="en-US" sz="1600" dirty="0">
                <a:solidFill>
                  <a:srgbClr val="C3D8D4"/>
                </a:solidFill>
                <a:latin typeface="Calibri" pitchFamily="34" charset="0"/>
                <a:ea typeface="Calibri" pitchFamily="34" charset="-122"/>
                <a:cs typeface="Calibri" pitchFamily="34" charset="-120"/>
              </a:rPr>
              <a:t>Le code et les données sont publics sur GitHub, sous licence libre. Le Python fait foi, le site en est un portage vérifié valeur par valeur : 489 simulations et 43 pages rejouées à chaque modification. </a:t>
            </a:r>
            <a:pPr indent="0" marL="0">
              <a:buNone/>
            </a:pPr>
            <a:r>
              <a:rPr lang="en-US" sz="1600" b="1" dirty="0">
                <a:solidFill>
                  <a:srgbClr val="F4EFE4"/>
                </a:solidFill>
                <a:latin typeface="Calibri" pitchFamily="34" charset="0"/>
                <a:ea typeface="Calibri" pitchFamily="34" charset="-122"/>
                <a:cs typeface="Calibri" pitchFamily="34" charset="-120"/>
              </a:rPr>
              <a:t>Ce simulateur n'a aucune valeur officielle : seule votre caisse fait foi.</a:t>
            </a:r>
            <a:endParaRPr lang="en-US" sz="1600" dirty="0"/>
          </a:p>
        </p:txBody>
      </p:sp>
      <p:sp>
        <p:nvSpPr>
          <p:cNvPr id="20" name="Text 1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21"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548640"/>
            <a:ext cx="11094415" cy="320040"/>
          </a:xfrm>
          <a:prstGeom prst="rect">
            <a:avLst/>
          </a:prstGeom>
          <a:noFill/>
          <a:ln/>
        </p:spPr>
        <p:txBody>
          <a:bodyPr wrap="square" lIns="0" tIns="0" rIns="0" bIns="0" rtlCol="0" anchor="ctr"/>
          <a:lstStyle/>
          <a:p>
            <a:pPr indent="0" marL="0">
              <a:buNone/>
            </a:pPr>
            <a:r>
              <a:rPr lang="en-US" sz="1200" b="1" spc="300" kern="0" dirty="0">
                <a:solidFill>
                  <a:srgbClr val="E9C53D"/>
                </a:solidFill>
                <a:latin typeface="Arial" pitchFamily="34" charset="0"/>
                <a:ea typeface="Arial" pitchFamily="34" charset="-122"/>
                <a:cs typeface="Arial" pitchFamily="34" charset="-120"/>
              </a:rPr>
              <a:t>POUR LES QUESTIONS</a:t>
            </a:r>
            <a:endParaRPr lang="en-US" sz="1200" dirty="0"/>
          </a:p>
        </p:txBody>
      </p:sp>
      <p:sp>
        <p:nvSpPr>
          <p:cNvPr id="4" name="Text 1"/>
          <p:cNvSpPr txBox="1"/>
          <p:nvPr/>
        </p:nvSpPr>
        <p:spPr>
          <a:xfrm>
            <a:off x="548640" y="868680"/>
            <a:ext cx="11094415" cy="640080"/>
          </a:xfrm>
          <a:prstGeom prst="rect">
            <a:avLst/>
          </a:prstGeom>
          <a:noFill/>
          <a:ln/>
        </p:spPr>
        <p:txBody>
          <a:bodyPr wrap="square" lIns="0" tIns="0" rIns="0" bIns="0" rtlCol="0" anchor="t"/>
          <a:lstStyle/>
          <a:p>
            <a:pPr indent="0" marL="0">
              <a:buNone/>
            </a:pPr>
            <a:r>
              <a:rPr lang="en-US" sz="3000" b="1" dirty="0">
                <a:solidFill>
                  <a:srgbClr val="F4EFE4"/>
                </a:solidFill>
                <a:latin typeface="Arial" pitchFamily="34" charset="0"/>
                <a:ea typeface="Arial" pitchFamily="34" charset="-122"/>
                <a:cs typeface="Arial" pitchFamily="34" charset="-120"/>
              </a:rPr>
              <a:t>CE QU'ON VA VOUS DEMANDER</a:t>
            </a:r>
            <a:endParaRPr lang="en-US" sz="3000" dirty="0"/>
          </a:p>
        </p:txBody>
      </p:sp>
      <p:sp>
        <p:nvSpPr>
          <p:cNvPr id="5" name="Text 2"/>
          <p:cNvSpPr txBox="1"/>
          <p:nvPr/>
        </p:nvSpPr>
        <p:spPr>
          <a:xfrm>
            <a:off x="548640" y="1554480"/>
            <a:ext cx="5364328"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 C'est de la capitalisation ? »</a:t>
            </a:r>
            <a:endParaRPr lang="en-US" sz="1500" dirty="0"/>
          </a:p>
        </p:txBody>
      </p:sp>
      <p:sp>
        <p:nvSpPr>
          <p:cNvPr id="6" name="Text 3"/>
          <p:cNvSpPr txBox="1"/>
          <p:nvPr/>
        </p:nvSpPr>
        <p:spPr>
          <a:xfrm>
            <a:off x="548640" y="1938528"/>
            <a:ext cx="5364328" cy="1051560"/>
          </a:xfrm>
          <a:prstGeom prst="rect">
            <a:avLst/>
          </a:prstGeom>
          <a:noFill/>
          <a:ln/>
        </p:spPr>
        <p:txBody>
          <a:bodyPr wrap="square" lIns="0" tIns="0" rIns="0" bIns="0" rtlCol="0" anchor="t"/>
          <a:lstStyle/>
          <a:p>
            <a:pPr indent="0" marL="0">
              <a:buNone/>
            </a:pPr>
            <a:r>
              <a:rPr lang="en-US" sz="1250" dirty="0">
                <a:solidFill>
                  <a:srgbClr val="C3D8D4"/>
                </a:solidFill>
                <a:latin typeface="Calibri" pitchFamily="34" charset="0"/>
                <a:ea typeface="Calibri" pitchFamily="34" charset="-122"/>
                <a:cs typeface="Calibri" pitchFamily="34" charset="-120"/>
              </a:rPr>
              <a:t>Non. Rien n'est placé : les cotisations de l'année paient les pensions de l'année. Seuls les 5 % du pilier, en plus des 18 %, constituent un capital, sur des titres sans risque, transmissible.</a:t>
            </a:r>
            <a:endParaRPr lang="en-US" sz="1250" dirty="0"/>
          </a:p>
        </p:txBody>
      </p:sp>
      <p:sp>
        <p:nvSpPr>
          <p:cNvPr id="7" name="Text 4"/>
          <p:cNvSpPr txBox="1"/>
          <p:nvPr/>
        </p:nvSpPr>
        <p:spPr>
          <a:xfrm>
            <a:off x="6278728" y="1554480"/>
            <a:ext cx="5364328"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 Les pensions baissent de 30 % ? »</a:t>
            </a:r>
            <a:endParaRPr lang="en-US" sz="1500" dirty="0"/>
          </a:p>
        </p:txBody>
      </p:sp>
      <p:sp>
        <p:nvSpPr>
          <p:cNvPr id="8" name="Text 5"/>
          <p:cNvSpPr txBox="1"/>
          <p:nvPr/>
        </p:nvSpPr>
        <p:spPr>
          <a:xfrm>
            <a:off x="6278728" y="1938528"/>
            <a:ext cx="5364328" cy="1051560"/>
          </a:xfrm>
          <a:prstGeom prst="rect">
            <a:avLst/>
          </a:prstGeom>
          <a:noFill/>
          <a:ln/>
        </p:spPr>
        <p:txBody>
          <a:bodyPr wrap="square" lIns="0" tIns="0" rIns="0" bIns="0" rtlCol="0" anchor="t"/>
          <a:lstStyle/>
          <a:p>
            <a:pPr indent="0" marL="0">
              <a:buNone/>
            </a:pPr>
            <a:r>
              <a:rPr lang="en-US" sz="1250" dirty="0">
                <a:solidFill>
                  <a:srgbClr val="C3D8D4"/>
                </a:solidFill>
                <a:latin typeface="Calibri" pitchFamily="34" charset="0"/>
                <a:ea typeface="Calibri" pitchFamily="34" charset="-122"/>
                <a:cs typeface="Calibri" pitchFamily="34" charset="-120"/>
              </a:rPr>
              <a:t>Les écarts mesurent la redistribution entre carrières, avant le réglage annuel qui rééquilibre. Le système actuel, lui, est projeté en déficit de 16 % de la facture en 2070.</a:t>
            </a:r>
            <a:endParaRPr lang="en-US" sz="1250" dirty="0"/>
          </a:p>
        </p:txBody>
      </p:sp>
      <p:sp>
        <p:nvSpPr>
          <p:cNvPr id="9" name="Text 6"/>
          <p:cNvSpPr txBox="1"/>
          <p:nvPr/>
        </p:nvSpPr>
        <p:spPr>
          <a:xfrm>
            <a:off x="548640" y="3063240"/>
            <a:ext cx="5364328"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 Et les petites pensions ? »</a:t>
            </a:r>
            <a:endParaRPr lang="en-US" sz="1500" dirty="0"/>
          </a:p>
        </p:txBody>
      </p:sp>
      <p:sp>
        <p:nvSpPr>
          <p:cNvPr id="10" name="Text 7"/>
          <p:cNvSpPr txBox="1"/>
          <p:nvPr/>
        </p:nvSpPr>
        <p:spPr>
          <a:xfrm>
            <a:off x="548640" y="3447288"/>
            <a:ext cx="5364328" cy="1051560"/>
          </a:xfrm>
          <a:prstGeom prst="rect">
            <a:avLst/>
          </a:prstGeom>
          <a:noFill/>
          <a:ln/>
        </p:spPr>
        <p:txBody>
          <a:bodyPr wrap="square" lIns="0" tIns="0" rIns="0" bIns="0" rtlCol="0" anchor="t"/>
          <a:lstStyle/>
          <a:p>
            <a:pPr indent="0" marL="0">
              <a:buNone/>
            </a:pPr>
            <a:r>
              <a:rPr lang="en-US" sz="1250" dirty="0">
                <a:solidFill>
                  <a:srgbClr val="C3D8D4"/>
                </a:solidFill>
                <a:latin typeface="Calibri" pitchFamily="34" charset="0"/>
                <a:ea typeface="Calibri" pitchFamily="34" charset="-122"/>
                <a:cs typeface="Calibri" pitchFamily="34" charset="-120"/>
              </a:rPr>
              <a:t>Le plancher : 800 € par personne plus 250 € pour qui vit seul, dès 65 ans, individualisé, payé par l'impôt. Repris sur la succession, jamais au-delà de ce qu'elle contient.</a:t>
            </a:r>
            <a:endParaRPr lang="en-US" sz="1250" dirty="0"/>
          </a:p>
        </p:txBody>
      </p:sp>
      <p:sp>
        <p:nvSpPr>
          <p:cNvPr id="11" name="Text 8"/>
          <p:cNvSpPr txBox="1"/>
          <p:nvPr/>
        </p:nvSpPr>
        <p:spPr>
          <a:xfrm>
            <a:off x="6278728" y="3063240"/>
            <a:ext cx="5364328"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 Pourquoi le fonctionnaire gagne ? »</a:t>
            </a:r>
            <a:endParaRPr lang="en-US" sz="1500" dirty="0"/>
          </a:p>
        </p:txBody>
      </p:sp>
      <p:sp>
        <p:nvSpPr>
          <p:cNvPr id="12" name="Text 9"/>
          <p:cNvSpPr txBox="1"/>
          <p:nvPr/>
        </p:nvSpPr>
        <p:spPr>
          <a:xfrm>
            <a:off x="6278728" y="3447288"/>
            <a:ext cx="5364328" cy="1051560"/>
          </a:xfrm>
          <a:prstGeom prst="rect">
            <a:avLst/>
          </a:prstGeom>
          <a:noFill/>
          <a:ln/>
        </p:spPr>
        <p:txBody>
          <a:bodyPr wrap="square" lIns="0" tIns="0" rIns="0" bIns="0" rtlCol="0" anchor="t"/>
          <a:lstStyle/>
          <a:p>
            <a:pPr indent="0" marL="0">
              <a:buNone/>
            </a:pPr>
            <a:r>
              <a:rPr lang="en-US" sz="1250" dirty="0">
                <a:solidFill>
                  <a:srgbClr val="C3D8D4"/>
                </a:solidFill>
                <a:latin typeface="Calibri" pitchFamily="34" charset="0"/>
                <a:ea typeface="Calibri" pitchFamily="34" charset="-122"/>
                <a:cs typeface="Calibri" pitchFamily="34" charset="-120"/>
              </a:rPr>
              <a:t>Parce que l'État cotise pour lui bien plus qu'un employeur privé, jusqu'à 82 % du traitement, et que le compte rend ce qui a été versé.</a:t>
            </a:r>
            <a:endParaRPr lang="en-US" sz="1250" dirty="0"/>
          </a:p>
        </p:txBody>
      </p:sp>
      <p:sp>
        <p:nvSpPr>
          <p:cNvPr id="13" name="Text 10"/>
          <p:cNvSpPr txBox="1"/>
          <p:nvPr/>
        </p:nvSpPr>
        <p:spPr>
          <a:xfrm>
            <a:off x="548640" y="4572000"/>
            <a:ext cx="5364328"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 On cotise moins, donc on touche moins ? »</a:t>
            </a:r>
            <a:endParaRPr lang="en-US" sz="1500" dirty="0"/>
          </a:p>
        </p:txBody>
      </p:sp>
      <p:sp>
        <p:nvSpPr>
          <p:cNvPr id="14" name="Text 11"/>
          <p:cNvSpPr txBox="1"/>
          <p:nvPr/>
        </p:nvSpPr>
        <p:spPr>
          <a:xfrm>
            <a:off x="548640" y="4956048"/>
            <a:ext cx="5364328" cy="1051560"/>
          </a:xfrm>
          <a:prstGeom prst="rect">
            <a:avLst/>
          </a:prstGeom>
          <a:noFill/>
          <a:ln/>
        </p:spPr>
        <p:txBody>
          <a:bodyPr wrap="square" lIns="0" tIns="0" rIns="0" bIns="0" rtlCol="0" anchor="t"/>
          <a:lstStyle/>
          <a:p>
            <a:pPr indent="0" marL="0">
              <a:buNone/>
            </a:pPr>
            <a:r>
              <a:rPr lang="en-US" sz="1250" dirty="0">
                <a:solidFill>
                  <a:srgbClr val="C3D8D4"/>
                </a:solidFill>
                <a:latin typeface="Calibri" pitchFamily="34" charset="0"/>
                <a:ea typeface="Calibri" pitchFamily="34" charset="-122"/>
                <a:cs typeface="Calibri" pitchFamily="34" charset="-120"/>
              </a:rPr>
              <a:t>18 + 5 font 23 contre 28. Les cinq points rendus sont libres ; le simulateur les suppose replacés pour comparer à effort égal, et montre ce que ça change sur la fiche de paie.</a:t>
            </a:r>
            <a:endParaRPr lang="en-US" sz="1250" dirty="0"/>
          </a:p>
        </p:txBody>
      </p:sp>
      <p:sp>
        <p:nvSpPr>
          <p:cNvPr id="15" name="Text 12"/>
          <p:cNvSpPr txBox="1"/>
          <p:nvPr/>
        </p:nvSpPr>
        <p:spPr>
          <a:xfrm>
            <a:off x="6278728" y="4572000"/>
            <a:ext cx="5364328" cy="365760"/>
          </a:xfrm>
          <a:prstGeom prst="rect">
            <a:avLst/>
          </a:prstGeom>
          <a:noFill/>
          <a:ln/>
        </p:spPr>
        <p:txBody>
          <a:bodyPr wrap="square" lIns="0" tIns="0" rIns="0" bIns="0" rtlCol="0" anchor="ctr"/>
          <a:lstStyle/>
          <a:p>
            <a:pPr indent="0" marL="0">
              <a:buNone/>
            </a:pPr>
            <a:r>
              <a:rPr lang="en-US" sz="1500" b="1" dirty="0">
                <a:solidFill>
                  <a:srgbClr val="E9C53D"/>
                </a:solidFill>
                <a:latin typeface="Arial" pitchFamily="34" charset="0"/>
                <a:ea typeface="Arial" pitchFamily="34" charset="-122"/>
                <a:cs typeface="Arial" pitchFamily="34" charset="-120"/>
              </a:rPr>
              <a:t>« C'est officiel ? D'où viennent les chiffres ? »</a:t>
            </a:r>
            <a:endParaRPr lang="en-US" sz="1500" dirty="0"/>
          </a:p>
        </p:txBody>
      </p:sp>
      <p:sp>
        <p:nvSpPr>
          <p:cNvPr id="16" name="Text 13"/>
          <p:cNvSpPr txBox="1"/>
          <p:nvPr/>
        </p:nvSpPr>
        <p:spPr>
          <a:xfrm>
            <a:off x="6278728" y="4956048"/>
            <a:ext cx="5364328" cy="1051560"/>
          </a:xfrm>
          <a:prstGeom prst="rect">
            <a:avLst/>
          </a:prstGeom>
          <a:noFill/>
          <a:ln/>
        </p:spPr>
        <p:txBody>
          <a:bodyPr wrap="square" lIns="0" tIns="0" rIns="0" bIns="0" rtlCol="0" anchor="t"/>
          <a:lstStyle/>
          <a:p>
            <a:pPr indent="0" marL="0">
              <a:buNone/>
            </a:pPr>
            <a:r>
              <a:rPr lang="en-US" sz="1250" dirty="0">
                <a:solidFill>
                  <a:srgbClr val="C3D8D4"/>
                </a:solidFill>
                <a:latin typeface="Calibri" pitchFamily="34" charset="0"/>
                <a:ea typeface="Calibri" pitchFamily="34" charset="-122"/>
                <a:cs typeface="Calibri" pitchFamily="34" charset="-120"/>
              </a:rPr>
              <a:t>Non, et chaque page le dit : seule la caisse fait foi. Les chiffres viennent de l'INSEE, du COR, de la DREES, de la Cnav et de Légifrance, recontrôlés contre leur source.</a:t>
            </a:r>
            <a:endParaRPr lang="en-US" sz="1250" dirty="0"/>
          </a:p>
        </p:txBody>
      </p:sp>
      <p:sp>
        <p:nvSpPr>
          <p:cNvPr id="17" name="Text 14"/>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7C3BF"/>
                </a:solidFill>
                <a:latin typeface="Calibri" pitchFamily="34" charset="0"/>
                <a:ea typeface="Calibri" pitchFamily="34" charset="-122"/>
                <a:cs typeface="Calibri" pitchFamily="34" charset="-120"/>
              </a:rPr>
              <a:t>g-pliberal.github.io/retraitecomptenotionelle</a:t>
            </a:r>
            <a:endParaRPr lang="en-US" sz="1000" dirty="0"/>
          </a:p>
        </p:txBody>
      </p:sp>
      <p:sp>
        <p:nvSpPr>
          <p:cNvPr id="18" name="Text 1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7C3B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3D3A"/>
        </a:solidFill>
      </p:bgPr>
    </p:bg>
    <p:spTree>
      <p:nvGrpSpPr>
        <p:cNvPr id="1" name=""/>
        <p:cNvGrpSpPr/>
        <p:nvPr/>
      </p:nvGrpSpPr>
      <p:grpSpPr>
        <a:xfrm>
          <a:off x="0" y="0"/>
          <a:ext cx="0" cy="0"/>
          <a:chOff x="0" y="0"/>
          <a:chExt cx="0" cy="0"/>
        </a:xfrm>
      </p:grpSpPr>
      <p:sp>
        <p:nvSpPr>
          <p:cNvPr id="3" name="Text 0"/>
          <p:cNvSpPr txBox="1"/>
          <p:nvPr/>
        </p:nvSpPr>
        <p:spPr>
          <a:xfrm>
            <a:off x="548640" y="1188720"/>
            <a:ext cx="11094415" cy="365760"/>
          </a:xfrm>
          <a:prstGeom prst="rect">
            <a:avLst/>
          </a:prstGeom>
          <a:noFill/>
          <a:ln/>
        </p:spPr>
        <p:txBody>
          <a:bodyPr wrap="square" lIns="0" tIns="0" rIns="0" bIns="0" rtlCol="0" anchor="ctr"/>
          <a:lstStyle/>
          <a:p>
            <a:pPr indent="0" marL="0">
              <a:buNone/>
            </a:pPr>
            <a:r>
              <a:rPr lang="en-US" sz="1300" b="1" spc="300" kern="0" dirty="0">
                <a:solidFill>
                  <a:srgbClr val="E9C53D"/>
                </a:solidFill>
                <a:latin typeface="Arial" pitchFamily="34" charset="0"/>
                <a:ea typeface="Arial" pitchFamily="34" charset="-122"/>
                <a:cs typeface="Arial" pitchFamily="34" charset="-120"/>
              </a:rPr>
              <a:t>VÉRIFIEZ PLUTÔT QUE DE NOUS CROIRE</a:t>
            </a:r>
            <a:endParaRPr lang="en-US" sz="1300" dirty="0"/>
          </a:p>
        </p:txBody>
      </p:sp>
      <p:sp>
        <p:nvSpPr>
          <p:cNvPr id="4" name="Text 1"/>
          <p:cNvSpPr txBox="1"/>
          <p:nvPr/>
        </p:nvSpPr>
        <p:spPr>
          <a:xfrm>
            <a:off x="548640" y="1737360"/>
            <a:ext cx="11094415" cy="2194560"/>
          </a:xfrm>
          <a:prstGeom prst="rect">
            <a:avLst/>
          </a:prstGeom>
          <a:noFill/>
          <a:ln/>
        </p:spPr>
        <p:txBody>
          <a:bodyPr wrap="square" lIns="0" tIns="0" rIns="0" bIns="0" rtlCol="0" anchor="t"/>
          <a:lstStyle/>
          <a:p>
            <a:pPr indent="0" marL="0">
              <a:buNone/>
            </a:pPr>
            <a:r>
              <a:rPr lang="en-US" sz="4400" b="1" dirty="0">
                <a:solidFill>
                  <a:srgbClr val="F4EFE4"/>
                </a:solidFill>
                <a:latin typeface="Arial" pitchFamily="34" charset="0"/>
                <a:ea typeface="Arial" pitchFamily="34" charset="-122"/>
                <a:cs typeface="Arial" pitchFamily="34" charset="-120"/>
              </a:rPr>
              <a:t>Tout est chiffré, sur des données publiques et un modèle ouvert.</a:t>
            </a:r>
            <a:endParaRPr lang="en-US" sz="4400" dirty="0"/>
          </a:p>
        </p:txBody>
      </p:sp>
      <p:sp>
        <p:nvSpPr>
          <p:cNvPr id="5" name="Shape 2"/>
          <p:cNvSpPr/>
          <p:nvPr/>
        </p:nvSpPr>
        <p:spPr>
          <a:xfrm>
            <a:off x="548640" y="4206240"/>
            <a:ext cx="11094415" cy="1371600"/>
          </a:xfrm>
          <a:prstGeom prst="rect">
            <a:avLst/>
          </a:prstGeom>
          <a:solidFill>
            <a:srgbClr val="0F4A46"/>
          </a:solidFill>
          <a:ln w="9525">
            <a:solidFill>
              <a:srgbClr val="2F6360"/>
            </a:solidFill>
            <a:prstDash val="solid"/>
          </a:ln>
        </p:spPr>
      </p:sp>
      <p:sp>
        <p:nvSpPr>
          <p:cNvPr id="6" name="Text 3"/>
          <p:cNvSpPr txBox="1"/>
          <p:nvPr/>
        </p:nvSpPr>
        <p:spPr>
          <a:xfrm>
            <a:off x="822960" y="4389120"/>
            <a:ext cx="5486400" cy="320040"/>
          </a:xfrm>
          <a:prstGeom prst="rect">
            <a:avLst/>
          </a:prstGeom>
          <a:noFill/>
          <a:ln/>
        </p:spPr>
        <p:txBody>
          <a:bodyPr wrap="square" lIns="0" tIns="0" rIns="0" bIns="0" rtlCol="0" anchor="ctr"/>
          <a:lstStyle/>
          <a:p>
            <a:pPr indent="0" marL="0">
              <a:buNone/>
            </a:pPr>
            <a:r>
              <a:rPr lang="en-US" sz="1100" b="1" spc="200" kern="0" dirty="0">
                <a:solidFill>
                  <a:srgbClr val="E9C53D"/>
                </a:solidFill>
                <a:latin typeface="Arial" pitchFamily="34" charset="0"/>
                <a:ea typeface="Arial" pitchFamily="34" charset="-122"/>
                <a:cs typeface="Arial" pitchFamily="34" charset="-120"/>
              </a:rPr>
              <a:t>SIMULER SA RETRAITE</a:t>
            </a:r>
            <a:endParaRPr lang="en-US" sz="1100" dirty="0"/>
          </a:p>
        </p:txBody>
      </p:sp>
      <p:sp>
        <p:nvSpPr>
          <p:cNvPr id="7" name="Text 4"/>
          <p:cNvSpPr txBox="1"/>
          <p:nvPr/>
        </p:nvSpPr>
        <p:spPr>
          <a:xfrm>
            <a:off x="822960" y="4709160"/>
            <a:ext cx="10545775" cy="640080"/>
          </a:xfrm>
          <a:prstGeom prst="rect">
            <a:avLst/>
          </a:prstGeom>
          <a:noFill/>
          <a:ln/>
        </p:spPr>
        <p:txBody>
          <a:bodyPr wrap="square" lIns="0" tIns="0" rIns="0" bIns="0" rtlCol="0" anchor="ctr"/>
          <a:lstStyle/>
          <a:p>
            <a:pPr indent="0" marL="0">
              <a:buNone/>
            </a:pPr>
            <a:r>
              <a:rPr lang="en-US" sz="2600" b="1" dirty="0">
                <a:solidFill>
                  <a:srgbClr val="F4EFE4"/>
                </a:solidFill>
                <a:latin typeface="Arial" pitchFamily="34" charset="0"/>
                <a:ea typeface="Arial" pitchFamily="34" charset="-122"/>
                <a:cs typeface="Arial" pitchFamily="34" charset="-120"/>
              </a:rPr>
              <a:t>g-pliberal.github.io/retraitecomptenotionelle</a:t>
            </a:r>
            <a:endParaRPr lang="en-US" sz="2600" dirty="0"/>
          </a:p>
        </p:txBody>
      </p:sp>
      <p:sp>
        <p:nvSpPr>
          <p:cNvPr id="8" name="Text 5"/>
          <p:cNvSpPr txBox="1"/>
          <p:nvPr/>
        </p:nvSpPr>
        <p:spPr>
          <a:xfrm>
            <a:off x="548640" y="5852160"/>
            <a:ext cx="11094415" cy="457200"/>
          </a:xfrm>
          <a:prstGeom prst="rect">
            <a:avLst/>
          </a:prstGeom>
          <a:noFill/>
          <a:ln/>
        </p:spPr>
        <p:txBody>
          <a:bodyPr wrap="square" lIns="0" tIns="0" rIns="0" bIns="0" rtlCol="0" anchor="ctr"/>
          <a:lstStyle/>
          <a:p>
            <a:pPr indent="0" marL="0">
              <a:buNone/>
            </a:pPr>
            <a:r>
              <a:rPr lang="en-US" sz="1500" i="1" dirty="0">
                <a:solidFill>
                  <a:srgbClr val="A7C3BF"/>
                </a:solidFill>
                <a:latin typeface="Cambria" pitchFamily="34" charset="0"/>
                <a:ea typeface="Cambria" pitchFamily="34" charset="-122"/>
                <a:cs typeface="Cambria" pitchFamily="34" charset="-120"/>
              </a:rPr>
              <a:t>Un outil du Parti libéral français. Tout se calcule dans votre navigateur : rien n'est envoyé, rien n'est conservé.</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Retraite à comptes notionnels — présentation du site</dc:title>
  <dc:subject>PptxGenJS Presentation</dc:subject>
  <dc:creator>Parti libéral français</dc:creator>
  <cp:lastModifiedBy>Parti libéral français</cp:lastModifiedBy>
  <cp:revision>1</cp:revision>
  <dcterms:created xsi:type="dcterms:W3CDTF">2026-09-20T07:04:44Z</dcterms:created>
  <dcterms:modified xsi:type="dcterms:W3CDTF">2026-09-20T07:04:44Z</dcterms:modified>
</cp:coreProperties>
</file>